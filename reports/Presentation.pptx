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2060FBE-8232-4254-A1B8-055DF0B3676C}" type="datetimeFigureOut">
              <a:rPr lang="en-IN" smtClean="0"/>
              <a:t>13-08-2026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873DC2-F90D-44AA-ACA1-C247CD42E658}" type="slidenum">
              <a:rPr lang="en-IN" smtClean="0"/>
              <a:t>‹#›</a:t>
            </a:fld>
            <a:endParaRPr lang="en-IN"/>
          </a:p>
        </p:txBody>
      </p:sp>
    </p:spTree>
    <p:extLst>
      <p:ext uri="{BB962C8B-B14F-4D97-AF65-F5344CB8AC3E}">
        <p14:creationId xmlns:p14="http://schemas.microsoft.com/office/powerpoint/2010/main" val="212266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2060FBE-8232-4254-A1B8-055DF0B3676C}" type="datetimeFigureOut">
              <a:rPr lang="en-IN" smtClean="0"/>
              <a:t>13-08-2026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873DC2-F90D-44AA-ACA1-C247CD42E658}" type="slidenum">
              <a:rPr lang="en-IN" smtClean="0"/>
              <a:t>‹#›</a:t>
            </a:fld>
            <a:endParaRPr lang="en-IN"/>
          </a:p>
        </p:txBody>
      </p:sp>
    </p:spTree>
    <p:extLst>
      <p:ext uri="{BB962C8B-B14F-4D97-AF65-F5344CB8AC3E}">
        <p14:creationId xmlns:p14="http://schemas.microsoft.com/office/powerpoint/2010/main" val="4087360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060FBE-8232-4254-A1B8-055DF0B3676C}" type="datetimeFigureOut">
              <a:rPr lang="en-IN" smtClean="0"/>
              <a:t>13-08-2026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873DC2-F90D-44AA-ACA1-C247CD42E658}" type="slidenum">
              <a:rPr lang="en-IN" smtClean="0"/>
              <a:t>‹#›</a:t>
            </a:fld>
            <a:endParaRPr lang="en-IN"/>
          </a:p>
        </p:txBody>
      </p:sp>
    </p:spTree>
    <p:extLst>
      <p:ext uri="{BB962C8B-B14F-4D97-AF65-F5344CB8AC3E}">
        <p14:creationId xmlns:p14="http://schemas.microsoft.com/office/powerpoint/2010/main" val="56355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060FBE-8232-4254-A1B8-055DF0B3676C}" type="datetimeFigureOut">
              <a:rPr lang="en-IN" smtClean="0"/>
              <a:t>13-08-2026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873DC2-F90D-44AA-ACA1-C247CD42E658}" type="slidenum">
              <a:rPr lang="en-IN" smtClean="0"/>
              <a:t>‹#›</a:t>
            </a:fld>
            <a:endParaRPr lang="en-IN"/>
          </a:p>
        </p:txBody>
      </p:sp>
    </p:spTree>
    <p:extLst>
      <p:ext uri="{BB962C8B-B14F-4D97-AF65-F5344CB8AC3E}">
        <p14:creationId xmlns:p14="http://schemas.microsoft.com/office/powerpoint/2010/main" val="3615502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2060FBE-8232-4254-A1B8-055DF0B3676C}" type="datetimeFigureOut">
              <a:rPr lang="en-IN" smtClean="0"/>
              <a:t>13-08-2026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0873DC2-F90D-44AA-ACA1-C247CD42E658}" type="slidenum">
              <a:rPr lang="en-IN" smtClean="0"/>
              <a:t>‹#›</a:t>
            </a:fld>
            <a:endParaRPr lang="en-IN"/>
          </a:p>
        </p:txBody>
      </p:sp>
    </p:spTree>
    <p:extLst>
      <p:ext uri="{BB962C8B-B14F-4D97-AF65-F5344CB8AC3E}">
        <p14:creationId xmlns:p14="http://schemas.microsoft.com/office/powerpoint/2010/main" val="3593674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2060FBE-8232-4254-A1B8-055DF0B3676C}" type="datetimeFigureOut">
              <a:rPr lang="en-IN" smtClean="0"/>
              <a:t>13-08-2026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50873DC2-F90D-44AA-ACA1-C247CD42E658}" type="slidenum">
              <a:rPr lang="en-IN" smtClean="0"/>
              <a:t>‹#›</a:t>
            </a:fld>
            <a:endParaRPr lang="en-IN"/>
          </a:p>
        </p:txBody>
      </p:sp>
    </p:spTree>
    <p:extLst>
      <p:ext uri="{BB962C8B-B14F-4D97-AF65-F5344CB8AC3E}">
        <p14:creationId xmlns:p14="http://schemas.microsoft.com/office/powerpoint/2010/main" val="1440983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2060FBE-8232-4254-A1B8-055DF0B3676C}" type="datetimeFigureOut">
              <a:rPr lang="en-IN" smtClean="0"/>
              <a:t>13-08-2026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50873DC2-F90D-44AA-ACA1-C247CD42E658}" type="slidenum">
              <a:rPr lang="en-IN" smtClean="0"/>
              <a:t>‹#›</a:t>
            </a:fld>
            <a:endParaRPr lang="en-IN"/>
          </a:p>
        </p:txBody>
      </p:sp>
    </p:spTree>
    <p:extLst>
      <p:ext uri="{BB962C8B-B14F-4D97-AF65-F5344CB8AC3E}">
        <p14:creationId xmlns:p14="http://schemas.microsoft.com/office/powerpoint/2010/main" val="3663504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2060FBE-8232-4254-A1B8-055DF0B3676C}" type="datetimeFigureOut">
              <a:rPr lang="en-IN" smtClean="0"/>
              <a:t>13-08-2026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50873DC2-F90D-44AA-ACA1-C247CD42E658}" type="slidenum">
              <a:rPr lang="en-IN" smtClean="0"/>
              <a:t>‹#›</a:t>
            </a:fld>
            <a:endParaRPr lang="en-IN"/>
          </a:p>
        </p:txBody>
      </p:sp>
    </p:spTree>
    <p:extLst>
      <p:ext uri="{BB962C8B-B14F-4D97-AF65-F5344CB8AC3E}">
        <p14:creationId xmlns:p14="http://schemas.microsoft.com/office/powerpoint/2010/main" val="3522433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060FBE-8232-4254-A1B8-055DF0B3676C}" type="datetimeFigureOut">
              <a:rPr lang="en-IN" smtClean="0"/>
              <a:t>13-08-2026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873DC2-F90D-44AA-ACA1-C247CD42E658}" type="slidenum">
              <a:rPr lang="en-IN" smtClean="0"/>
              <a:t>‹#›</a:t>
            </a:fld>
            <a:endParaRPr lang="en-IN"/>
          </a:p>
        </p:txBody>
      </p:sp>
    </p:spTree>
    <p:extLst>
      <p:ext uri="{BB962C8B-B14F-4D97-AF65-F5344CB8AC3E}">
        <p14:creationId xmlns:p14="http://schemas.microsoft.com/office/powerpoint/2010/main" val="4239699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060FBE-8232-4254-A1B8-055DF0B3676C}" type="datetimeFigureOut">
              <a:rPr lang="en-IN" smtClean="0"/>
              <a:t>13-08-2026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873DC2-F90D-44AA-ACA1-C247CD42E658}" type="slidenum">
              <a:rPr lang="en-IN" smtClean="0"/>
              <a:t>‹#›</a:t>
            </a:fld>
            <a:endParaRPr lang="en-IN"/>
          </a:p>
        </p:txBody>
      </p:sp>
    </p:spTree>
    <p:extLst>
      <p:ext uri="{BB962C8B-B14F-4D97-AF65-F5344CB8AC3E}">
        <p14:creationId xmlns:p14="http://schemas.microsoft.com/office/powerpoint/2010/main" val="2436985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2060FBE-8232-4254-A1B8-055DF0B3676C}" type="datetimeFigureOut">
              <a:rPr lang="en-IN" smtClean="0"/>
              <a:t>13-08-2026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873DC2-F90D-44AA-ACA1-C247CD42E658}" type="slidenum">
              <a:rPr lang="en-IN" smtClean="0"/>
              <a:t>‹#›</a:t>
            </a:fld>
            <a:endParaRPr lang="en-IN"/>
          </a:p>
        </p:txBody>
      </p:sp>
    </p:spTree>
    <p:extLst>
      <p:ext uri="{BB962C8B-B14F-4D97-AF65-F5344CB8AC3E}">
        <p14:creationId xmlns:p14="http://schemas.microsoft.com/office/powerpoint/2010/main" val="3825081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2060FBE-8232-4254-A1B8-055DF0B3676C}" type="datetimeFigureOut">
              <a:rPr lang="en-IN" smtClean="0"/>
              <a:t>13-08-2026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873DC2-F90D-44AA-ACA1-C247CD42E658}"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691009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060FBE-8232-4254-A1B8-055DF0B3676C}" type="datetimeFigureOut">
              <a:rPr lang="en-IN" smtClean="0"/>
              <a:t>13-08-2026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873DC2-F90D-44AA-ACA1-C247CD42E658}" type="slidenum">
              <a:rPr lang="en-IN" smtClean="0"/>
              <a:t>‹#›</a:t>
            </a:fld>
            <a:endParaRPr lang="en-IN"/>
          </a:p>
        </p:txBody>
      </p:sp>
    </p:spTree>
    <p:extLst>
      <p:ext uri="{BB962C8B-B14F-4D97-AF65-F5344CB8AC3E}">
        <p14:creationId xmlns:p14="http://schemas.microsoft.com/office/powerpoint/2010/main" val="13776675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2060FBE-8232-4254-A1B8-055DF0B3676C}" type="datetimeFigureOut">
              <a:rPr lang="en-IN" smtClean="0"/>
              <a:t>13-08-2026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873DC2-F90D-44AA-ACA1-C247CD42E658}" type="slidenum">
              <a:rPr lang="en-IN" smtClean="0"/>
              <a:t>‹#›</a:t>
            </a:fld>
            <a:endParaRPr lang="en-IN"/>
          </a:p>
        </p:txBody>
      </p:sp>
    </p:spTree>
    <p:extLst>
      <p:ext uri="{BB962C8B-B14F-4D97-AF65-F5344CB8AC3E}">
        <p14:creationId xmlns:p14="http://schemas.microsoft.com/office/powerpoint/2010/main" val="328552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2060FBE-8232-4254-A1B8-055DF0B3676C}" type="datetimeFigureOut">
              <a:rPr lang="en-IN" smtClean="0"/>
              <a:t>13-08-2026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873DC2-F90D-44AA-ACA1-C247CD42E658}" type="slidenum">
              <a:rPr lang="en-IN" smtClean="0"/>
              <a:t>‹#›</a:t>
            </a:fld>
            <a:endParaRPr lang="en-IN"/>
          </a:p>
        </p:txBody>
      </p:sp>
    </p:spTree>
    <p:extLst>
      <p:ext uri="{BB962C8B-B14F-4D97-AF65-F5344CB8AC3E}">
        <p14:creationId xmlns:p14="http://schemas.microsoft.com/office/powerpoint/2010/main" val="41128286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060FBE-8232-4254-A1B8-055DF0B3676C}" type="datetimeFigureOut">
              <a:rPr lang="en-IN" smtClean="0"/>
              <a:t>13-08-2026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873DC2-F90D-44AA-ACA1-C247CD42E658}" type="slidenum">
              <a:rPr lang="en-IN" smtClean="0"/>
              <a:t>‹#›</a:t>
            </a:fld>
            <a:endParaRPr lang="en-IN"/>
          </a:p>
        </p:txBody>
      </p:sp>
    </p:spTree>
    <p:extLst>
      <p:ext uri="{BB962C8B-B14F-4D97-AF65-F5344CB8AC3E}">
        <p14:creationId xmlns:p14="http://schemas.microsoft.com/office/powerpoint/2010/main" val="2633807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060FBE-8232-4254-A1B8-055DF0B3676C}" type="datetimeFigureOut">
              <a:rPr lang="en-IN" smtClean="0"/>
              <a:t>13-08-2026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873DC2-F90D-44AA-ACA1-C247CD42E658}" type="slidenum">
              <a:rPr lang="en-IN" smtClean="0"/>
              <a:t>‹#›</a:t>
            </a:fld>
            <a:endParaRPr lang="en-IN"/>
          </a:p>
        </p:txBody>
      </p:sp>
    </p:spTree>
    <p:extLst>
      <p:ext uri="{BB962C8B-B14F-4D97-AF65-F5344CB8AC3E}">
        <p14:creationId xmlns:p14="http://schemas.microsoft.com/office/powerpoint/2010/main" val="655548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12060FBE-8232-4254-A1B8-055DF0B3676C}" type="datetimeFigureOut">
              <a:rPr lang="en-IN" smtClean="0"/>
              <a:t>13-08-2026</a:t>
            </a:fld>
            <a:endParaRPr lang="en-IN"/>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IN"/>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50873DC2-F90D-44AA-ACA1-C247CD42E658}" type="slidenum">
              <a:rPr lang="en-IN" smtClean="0"/>
              <a:t>‹#›</a:t>
            </a:fld>
            <a:endParaRPr lang="en-IN"/>
          </a:p>
        </p:txBody>
      </p:sp>
    </p:spTree>
    <p:extLst>
      <p:ext uri="{BB962C8B-B14F-4D97-AF65-F5344CB8AC3E}">
        <p14:creationId xmlns:p14="http://schemas.microsoft.com/office/powerpoint/2010/main" val="220215341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2060FBE-8232-4254-A1B8-055DF0B3676C}" type="datetimeFigureOut">
              <a:rPr lang="en-IN" smtClean="0"/>
              <a:t>13-08-2026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0873DC2-F90D-44AA-ACA1-C247CD42E658}" type="slidenum">
              <a:rPr lang="en-IN" smtClean="0"/>
              <a:t>‹#›</a:t>
            </a:fld>
            <a:endParaRPr lang="en-IN"/>
          </a:p>
        </p:txBody>
      </p:sp>
    </p:spTree>
    <p:extLst>
      <p:ext uri="{BB962C8B-B14F-4D97-AF65-F5344CB8AC3E}">
        <p14:creationId xmlns:p14="http://schemas.microsoft.com/office/powerpoint/2010/main" val="3889459802"/>
      </p:ext>
    </p:extLst>
  </p:cSld>
  <p:clrMap bg1="dk1" tx1="lt1" bg2="dk2"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 id="2147483734" r:id="rId18"/>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B83C3-CFC7-4CFD-6713-D9E0AC397FFC}"/>
              </a:ext>
            </a:extLst>
          </p:cNvPr>
          <p:cNvSpPr>
            <a:spLocks noGrp="1"/>
          </p:cNvSpPr>
          <p:nvPr>
            <p:ph type="title"/>
          </p:nvPr>
        </p:nvSpPr>
        <p:spPr>
          <a:xfrm>
            <a:off x="457200" y="1162878"/>
            <a:ext cx="11231217" cy="4979505"/>
          </a:xfrm>
        </p:spPr>
        <p:style>
          <a:lnRef idx="2">
            <a:schemeClr val="dk1"/>
          </a:lnRef>
          <a:fillRef idx="1">
            <a:schemeClr val="lt1"/>
          </a:fillRef>
          <a:effectRef idx="0">
            <a:schemeClr val="dk1"/>
          </a:effectRef>
          <a:fontRef idx="minor">
            <a:schemeClr val="dk1"/>
          </a:fontRef>
        </p:style>
        <p:txBody>
          <a:bodyPr>
            <a:normAutofit/>
          </a:bodyPr>
          <a:lstStyle/>
          <a:p>
            <a:r>
              <a:rPr lang="en-IN" sz="4000" b="1" dirty="0"/>
              <a:t>   Title </a:t>
            </a:r>
            <a:r>
              <a:rPr lang="en-IN" sz="1800" b="1" dirty="0"/>
              <a:t>: </a:t>
            </a:r>
            <a:r>
              <a:rPr lang="en-IN" sz="3600" b="1" dirty="0"/>
              <a:t>Mutual Fund Analytics Capstone Project</a:t>
            </a:r>
            <a:br>
              <a:rPr lang="en-IN" sz="1800" b="1" dirty="0"/>
            </a:br>
            <a:r>
              <a:rPr lang="en-IN" sz="1800" b="1" dirty="0"/>
              <a:t>                                                             </a:t>
            </a:r>
            <a:br>
              <a:rPr lang="en-IN" sz="1800" b="1" dirty="0"/>
            </a:br>
            <a:br>
              <a:rPr lang="en-IN" sz="1800" b="1" dirty="0"/>
            </a:br>
            <a:r>
              <a:rPr lang="en-IN" sz="1800" b="1" dirty="0"/>
              <a:t>                                                                  Final Presentation</a:t>
            </a:r>
            <a:br>
              <a:rPr lang="en-IN" sz="1800" dirty="0"/>
            </a:br>
            <a:r>
              <a:rPr lang="en-IN" sz="1800" dirty="0"/>
              <a:t>                                                       Prepared by: </a:t>
            </a:r>
            <a:r>
              <a:rPr lang="en-IN" sz="2700" b="1" dirty="0"/>
              <a:t>Bandi Bharath</a:t>
            </a:r>
            <a:br>
              <a:rPr lang="en-IN" sz="1800" dirty="0"/>
            </a:br>
            <a:r>
              <a:rPr lang="en-IN" sz="1800" dirty="0"/>
              <a:t>                                                Bluestock Fintech Data Analytics Internship</a:t>
            </a:r>
            <a:br>
              <a:rPr lang="en-IN" sz="1800" dirty="0"/>
            </a:br>
            <a:r>
              <a:rPr lang="en-IN" sz="1800" dirty="0"/>
              <a:t>                                                                      August 2026</a:t>
            </a:r>
            <a:br>
              <a:rPr lang="en-IN" sz="1800" dirty="0"/>
            </a:br>
            <a:br>
              <a:rPr lang="en-IN" sz="1800" dirty="0"/>
            </a:br>
            <a:br>
              <a:rPr lang="en-IN" sz="1800" dirty="0"/>
            </a:br>
            <a:r>
              <a:rPr lang="en-IN" sz="1800" b="1" dirty="0"/>
              <a:t>Presentation explanation:</a:t>
            </a:r>
            <a:r>
              <a:rPr lang="en-IN" sz="1800" dirty="0"/>
              <a:t> This project focuses on </a:t>
            </a:r>
            <a:r>
              <a:rPr lang="en-IN" sz="1800" dirty="0" err="1"/>
              <a:t>analyzing</a:t>
            </a:r>
            <a:r>
              <a:rPr lang="en-IN" sz="1800" dirty="0"/>
              <a:t> mutual fund performance, investor </a:t>
            </a:r>
            <a:r>
              <a:rPr lang="en-IN" sz="1800" dirty="0" err="1"/>
              <a:t>behavior</a:t>
            </a:r>
            <a:r>
              <a:rPr lang="en-IN" sz="1800" dirty="0"/>
              <a:t>, and portfolio risk using Python, SQL, and financial analytics. The project demonstrates an end-to-end analytics pipeline from raw data processing to business insights and investment            										recommendations.</a:t>
            </a:r>
            <a:br>
              <a:rPr lang="en-IN" sz="1800" dirty="0"/>
            </a:br>
            <a:endParaRPr lang="en-IN" sz="1800" dirty="0"/>
          </a:p>
        </p:txBody>
      </p:sp>
      <p:sp>
        <p:nvSpPr>
          <p:cNvPr id="3" name="Subtitle 2">
            <a:extLst>
              <a:ext uri="{FF2B5EF4-FFF2-40B4-BE49-F238E27FC236}">
                <a16:creationId xmlns:a16="http://schemas.microsoft.com/office/drawing/2014/main" id="{E57D01D4-B654-5245-A2F4-82B87AE18EBA}"/>
              </a:ext>
            </a:extLst>
          </p:cNvPr>
          <p:cNvSpPr>
            <a:spLocks noGrp="1"/>
          </p:cNvSpPr>
          <p:nvPr>
            <p:ph type="subTitle" idx="1"/>
          </p:nvPr>
        </p:nvSpPr>
        <p:spPr>
          <a:xfrm flipH="1" flipV="1">
            <a:off x="10986052" y="5347251"/>
            <a:ext cx="424070" cy="1053547"/>
          </a:xfrm>
        </p:spPr>
        <p:txBody>
          <a:bodyPr/>
          <a:lstStyle/>
          <a:p>
            <a:endParaRPr lang="en-IN" dirty="0"/>
          </a:p>
        </p:txBody>
      </p:sp>
    </p:spTree>
    <p:extLst>
      <p:ext uri="{BB962C8B-B14F-4D97-AF65-F5344CB8AC3E}">
        <p14:creationId xmlns:p14="http://schemas.microsoft.com/office/powerpoint/2010/main" val="3367467488"/>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E8A68-DDCB-27E5-DAB6-CD3030500730}"/>
              </a:ext>
            </a:extLst>
          </p:cNvPr>
          <p:cNvSpPr>
            <a:spLocks noGrp="1"/>
          </p:cNvSpPr>
          <p:nvPr>
            <p:ph type="title"/>
          </p:nvPr>
        </p:nvSpPr>
        <p:spPr>
          <a:xfrm>
            <a:off x="274320" y="606287"/>
            <a:ext cx="11631478" cy="5893903"/>
          </a:xfrm>
        </p:spPr>
        <p:style>
          <a:lnRef idx="2">
            <a:schemeClr val="dk1"/>
          </a:lnRef>
          <a:fillRef idx="1">
            <a:schemeClr val="lt1"/>
          </a:fillRef>
          <a:effectRef idx="0">
            <a:schemeClr val="dk1"/>
          </a:effectRef>
          <a:fontRef idx="minor">
            <a:schemeClr val="dk1"/>
          </a:fontRef>
        </p:style>
        <p:txBody>
          <a:bodyPr/>
          <a:lstStyle/>
          <a:p>
            <a:r>
              <a:rPr lang="en-IN" sz="3200" b="1" dirty="0"/>
              <a:t>Problem statement and objective:</a:t>
            </a:r>
            <a:br>
              <a:rPr lang="en-IN" sz="1200" b="1" dirty="0"/>
            </a:br>
            <a:br>
              <a:rPr lang="en-IN" sz="1200" b="1" dirty="0"/>
            </a:br>
            <a:r>
              <a:rPr lang="en-IN" sz="1800" b="1" dirty="0"/>
              <a:t>Problem </a:t>
            </a:r>
            <a:r>
              <a:rPr lang="en-IN" sz="1800" b="1" dirty="0" err="1"/>
              <a:t>statement</a:t>
            </a:r>
            <a:r>
              <a:rPr lang="en-IN" sz="1800" b="1" dirty="0" err="1">
                <a:solidFill>
                  <a:schemeClr val="tx1"/>
                </a:solidFill>
              </a:rPr>
              <a:t>blem</a:t>
            </a:r>
            <a:r>
              <a:rPr lang="en-IN" sz="1800" b="1" dirty="0">
                <a:solidFill>
                  <a:schemeClr val="tx1"/>
                </a:solidFill>
              </a:rPr>
              <a:t> statement </a:t>
            </a:r>
            <a:r>
              <a:rPr lang="en-IN" sz="1600" b="1" dirty="0">
                <a:solidFill>
                  <a:schemeClr val="tx1"/>
                </a:solidFill>
              </a:rPr>
              <a:t>:</a:t>
            </a:r>
            <a:br>
              <a:rPr lang="en-IN" sz="1600" b="1" dirty="0">
                <a:solidFill>
                  <a:schemeClr val="tx1"/>
                </a:solidFill>
              </a:rPr>
            </a:br>
            <a:br>
              <a:rPr lang="en-IN" sz="1200" b="1" dirty="0"/>
            </a:br>
            <a:r>
              <a:rPr lang="en-IN" sz="1200" b="1" dirty="0"/>
              <a:t> </a:t>
            </a:r>
            <a:r>
              <a:rPr lang="en-IN" sz="1400" b="1" dirty="0"/>
              <a:t>  1</a:t>
            </a:r>
            <a:r>
              <a:rPr lang="en-IN" sz="1200" dirty="0"/>
              <a:t>.</a:t>
            </a:r>
            <a:r>
              <a:rPr lang="en-IN" sz="1200" b="1" dirty="0"/>
              <a:t>  </a:t>
            </a:r>
            <a:r>
              <a:rPr lang="en-IN" sz="1600" dirty="0"/>
              <a:t>Mutual fund investors often compare schemes only based on returns.</a:t>
            </a:r>
            <a:br>
              <a:rPr lang="en-IN" sz="1600" dirty="0"/>
            </a:br>
            <a:r>
              <a:rPr lang="en-IN" sz="1600" dirty="0"/>
              <a:t>  2. Return-based analysis ignores volatility and downside risk.</a:t>
            </a:r>
            <a:br>
              <a:rPr lang="en-IN" sz="1600" dirty="0"/>
            </a:br>
            <a:r>
              <a:rPr lang="en-IN" sz="1600" dirty="0"/>
              <a:t>  3. Investors also need insights into portfolio concentration and SIP </a:t>
            </a:r>
            <a:r>
              <a:rPr lang="en-IN" sz="1600" dirty="0" err="1"/>
              <a:t>behavior</a:t>
            </a:r>
            <a:r>
              <a:rPr lang="en-IN" sz="1600" dirty="0"/>
              <a:t>.</a:t>
            </a:r>
            <a:br>
              <a:rPr lang="en-IN" sz="1600" dirty="0"/>
            </a:br>
            <a:r>
              <a:rPr lang="en-IN" sz="1600" dirty="0"/>
              <a:t>  4. Financial institutions require structured analytics for decision-making.</a:t>
            </a:r>
            <a:br>
              <a:rPr lang="en-IN" sz="1600" dirty="0"/>
            </a:br>
            <a:br>
              <a:rPr lang="en-IN" sz="1200" dirty="0"/>
            </a:br>
            <a:br>
              <a:rPr lang="en-IN" sz="1200" dirty="0"/>
            </a:br>
            <a:r>
              <a:rPr lang="en-IN" sz="1600" b="1" dirty="0"/>
              <a:t>Objective :</a:t>
            </a:r>
            <a:br>
              <a:rPr lang="en-IN" sz="1600" b="1" dirty="0"/>
            </a:br>
            <a:br>
              <a:rPr lang="en-IN" sz="1200" b="1" dirty="0"/>
            </a:br>
            <a:r>
              <a:rPr lang="en-IN" sz="1200" b="1" dirty="0"/>
              <a:t> 1. </a:t>
            </a:r>
            <a:r>
              <a:rPr lang="en-IN" sz="1600" dirty="0"/>
              <a:t>Build an automated ETL pipeline.</a:t>
            </a:r>
            <a:br>
              <a:rPr lang="en-IN" sz="1600" dirty="0"/>
            </a:br>
            <a:r>
              <a:rPr lang="en-IN" sz="1600" dirty="0"/>
              <a:t> 2. Perform performance and risk analytics.</a:t>
            </a:r>
            <a:br>
              <a:rPr lang="en-IN" sz="1600" dirty="0"/>
            </a:br>
            <a:r>
              <a:rPr lang="en-IN" sz="1600" dirty="0"/>
              <a:t> 3. </a:t>
            </a:r>
            <a:r>
              <a:rPr lang="en-IN" sz="1600" dirty="0" err="1"/>
              <a:t>Analyze</a:t>
            </a:r>
            <a:r>
              <a:rPr lang="en-IN" sz="1600" dirty="0"/>
              <a:t> investor </a:t>
            </a:r>
            <a:r>
              <a:rPr lang="en-IN" sz="1600" dirty="0" err="1"/>
              <a:t>behavior</a:t>
            </a:r>
            <a:r>
              <a:rPr lang="en-IN" sz="1600" dirty="0"/>
              <a:t>.</a:t>
            </a:r>
            <a:br>
              <a:rPr lang="en-IN" sz="1600" dirty="0"/>
            </a:br>
            <a:r>
              <a:rPr lang="en-IN" sz="1600" dirty="0"/>
              <a:t> 4. Develop a fund recommendation engine.</a:t>
            </a:r>
            <a:br>
              <a:rPr lang="en-IN" sz="1600" dirty="0"/>
            </a:br>
            <a:r>
              <a:rPr lang="en-IN" sz="1600" dirty="0"/>
              <a:t> 5.Generate business recommendations</a:t>
            </a:r>
            <a:r>
              <a:rPr lang="en-IN" sz="1200" dirty="0"/>
              <a:t>.</a:t>
            </a:r>
            <a:br>
              <a:rPr lang="en-IN" sz="1200" dirty="0"/>
            </a:br>
            <a:br>
              <a:rPr lang="en-IN" sz="1200" dirty="0"/>
            </a:br>
            <a:br>
              <a:rPr lang="en-IN" sz="1200" dirty="0"/>
            </a:br>
            <a:r>
              <a:rPr lang="en-IN" sz="1600" b="1" dirty="0"/>
              <a:t>Presentation explanation</a:t>
            </a:r>
            <a:r>
              <a:rPr lang="en-IN" sz="1200" b="1" dirty="0"/>
              <a:t>:</a:t>
            </a:r>
            <a:r>
              <a:rPr lang="en-IN" sz="1200" dirty="0"/>
              <a:t> </a:t>
            </a:r>
            <a:r>
              <a:rPr lang="en-IN" sz="1600" dirty="0"/>
              <a:t>The objective of this project was to create a complete mutual fund analytics framework that combines financial performance analysis with investor </a:t>
            </a:r>
            <a:r>
              <a:rPr lang="en-IN" sz="1600" dirty="0" err="1"/>
              <a:t>behavior</a:t>
            </a:r>
            <a:r>
              <a:rPr lang="en-IN" sz="1600" dirty="0"/>
              <a:t> analysis. The project aims to provide a practical solution for evaluating funds using both return and risk metrics.</a:t>
            </a:r>
            <a:br>
              <a:rPr lang="en-IN" sz="1600" dirty="0"/>
            </a:br>
            <a:br>
              <a:rPr lang="en-IN" sz="1600" dirty="0"/>
            </a:br>
            <a:br>
              <a:rPr lang="en-IN" sz="1200" dirty="0"/>
            </a:br>
            <a:r>
              <a:rPr lang="en-IN" sz="1200" dirty="0"/>
              <a:t> </a:t>
            </a:r>
          </a:p>
        </p:txBody>
      </p:sp>
      <p:sp>
        <p:nvSpPr>
          <p:cNvPr id="3" name="Subtitle 2">
            <a:extLst>
              <a:ext uri="{FF2B5EF4-FFF2-40B4-BE49-F238E27FC236}">
                <a16:creationId xmlns:a16="http://schemas.microsoft.com/office/drawing/2014/main" id="{95918CD1-17F9-1053-ABB1-BE4B0CA4A4A8}"/>
              </a:ext>
            </a:extLst>
          </p:cNvPr>
          <p:cNvSpPr>
            <a:spLocks noGrp="1"/>
          </p:cNvSpPr>
          <p:nvPr>
            <p:ph type="subTitle" idx="1"/>
          </p:nvPr>
        </p:nvSpPr>
        <p:spPr>
          <a:xfrm flipV="1">
            <a:off x="301751" y="6122501"/>
            <a:ext cx="7235954" cy="377689"/>
          </a:xfrm>
        </p:spPr>
        <p:txBody>
          <a:bodyPr/>
          <a:lstStyle/>
          <a:p>
            <a:endParaRPr lang="en-IN" dirty="0"/>
          </a:p>
        </p:txBody>
      </p:sp>
      <p:sp>
        <p:nvSpPr>
          <p:cNvPr id="4" name="Arrow: Right 3">
            <a:extLst>
              <a:ext uri="{FF2B5EF4-FFF2-40B4-BE49-F238E27FC236}">
                <a16:creationId xmlns:a16="http://schemas.microsoft.com/office/drawing/2014/main" id="{D4BC64B2-3469-88BD-42D9-E5648C10D030}"/>
              </a:ext>
            </a:extLst>
          </p:cNvPr>
          <p:cNvSpPr/>
          <p:nvPr/>
        </p:nvSpPr>
        <p:spPr>
          <a:xfrm>
            <a:off x="99391" y="785191"/>
            <a:ext cx="202360" cy="258418"/>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84986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90CD0-61DB-007D-5C91-F64776DDE3E8}"/>
              </a:ext>
            </a:extLst>
          </p:cNvPr>
          <p:cNvSpPr>
            <a:spLocks noGrp="1"/>
          </p:cNvSpPr>
          <p:nvPr>
            <p:ph type="title"/>
          </p:nvPr>
        </p:nvSpPr>
        <p:spPr/>
        <p:txBody>
          <a:bodyPr/>
          <a:lstStyle/>
          <a:p>
            <a:r>
              <a:rPr lang="en-IN" b="1" dirty="0"/>
              <a:t> </a:t>
            </a:r>
            <a:endParaRPr lang="en-IN" dirty="0"/>
          </a:p>
        </p:txBody>
      </p:sp>
      <p:sp>
        <p:nvSpPr>
          <p:cNvPr id="3" name="Subtitle 2">
            <a:extLst>
              <a:ext uri="{FF2B5EF4-FFF2-40B4-BE49-F238E27FC236}">
                <a16:creationId xmlns:a16="http://schemas.microsoft.com/office/drawing/2014/main" id="{2F89EE98-7EC5-50BB-10AD-CCF43C7D0FCB}"/>
              </a:ext>
            </a:extLst>
          </p:cNvPr>
          <p:cNvSpPr>
            <a:spLocks noGrp="1"/>
          </p:cNvSpPr>
          <p:nvPr>
            <p:ph type="subTitle" idx="1"/>
          </p:nvPr>
        </p:nvSpPr>
        <p:spPr>
          <a:xfrm>
            <a:off x="669498" y="506897"/>
            <a:ext cx="11038797" cy="5714999"/>
          </a:xfrm>
        </p:spPr>
        <p:style>
          <a:lnRef idx="2">
            <a:schemeClr val="dk1"/>
          </a:lnRef>
          <a:fillRef idx="1">
            <a:schemeClr val="lt1"/>
          </a:fillRef>
          <a:effectRef idx="0">
            <a:schemeClr val="dk1"/>
          </a:effectRef>
          <a:fontRef idx="minor">
            <a:schemeClr val="dk1"/>
          </a:fontRef>
        </p:style>
        <p:txBody>
          <a:bodyPr/>
          <a:lstStyle/>
          <a:p>
            <a:endParaRPr lang="en-IN" sz="2400" b="1" dirty="0"/>
          </a:p>
          <a:p>
            <a:r>
              <a:rPr lang="en-IN" sz="2400" b="1" dirty="0"/>
              <a:t>Data sources :</a:t>
            </a:r>
          </a:p>
          <a:p>
            <a:r>
              <a:rPr lang="en-IN" b="1" dirty="0"/>
              <a:t>Datasets used </a:t>
            </a:r>
          </a:p>
          <a:p>
            <a:pPr lvl="0"/>
            <a:r>
              <a:rPr lang="en-IN" dirty="0"/>
              <a:t>Fund Master , NAV History</a:t>
            </a:r>
          </a:p>
          <a:p>
            <a:pPr lvl="0"/>
            <a:r>
              <a:rPr lang="en-IN" dirty="0"/>
              <a:t>AUM by Fund House , Monthly SIP Inflows</a:t>
            </a:r>
          </a:p>
          <a:p>
            <a:pPr lvl="0"/>
            <a:r>
              <a:rPr lang="en-IN" dirty="0"/>
              <a:t>Category Inflows , Industry Folio Count</a:t>
            </a:r>
          </a:p>
          <a:p>
            <a:pPr lvl="0"/>
            <a:r>
              <a:rPr lang="en-IN" dirty="0"/>
              <a:t>Investor Transactions , Portfolio Holdings</a:t>
            </a:r>
          </a:p>
          <a:p>
            <a:pPr lvl="0"/>
            <a:r>
              <a:rPr lang="en-IN" dirty="0"/>
              <a:t>Benchmark Indices , Live NAV (mfapi.in API)</a:t>
            </a:r>
          </a:p>
          <a:p>
            <a:pPr lvl="0"/>
            <a:endParaRPr lang="en-IN" dirty="0"/>
          </a:p>
          <a:p>
            <a:r>
              <a:rPr lang="en-IN" sz="2400" b="1" dirty="0"/>
              <a:t>Presentation explanation</a:t>
            </a:r>
            <a:r>
              <a:rPr lang="en-IN" b="1" dirty="0"/>
              <a:t>:</a:t>
            </a:r>
            <a:r>
              <a:rPr lang="en-IN" dirty="0"/>
              <a:t> Multiple datasets were integrated to build a comprehensive analytical environment. Historical NAV data was used for performance and risk analysis, while investor transaction data supported </a:t>
            </a:r>
            <a:r>
              <a:rPr lang="en-IN" dirty="0" err="1"/>
              <a:t>behavioral</a:t>
            </a:r>
            <a:r>
              <a:rPr lang="en-IN" dirty="0"/>
              <a:t> analytics and SIP continuity analysis.</a:t>
            </a:r>
          </a:p>
          <a:p>
            <a:endParaRPr lang="en-IN" dirty="0"/>
          </a:p>
        </p:txBody>
      </p:sp>
      <p:sp>
        <p:nvSpPr>
          <p:cNvPr id="4" name="Arrow: Right 3">
            <a:extLst>
              <a:ext uri="{FF2B5EF4-FFF2-40B4-BE49-F238E27FC236}">
                <a16:creationId xmlns:a16="http://schemas.microsoft.com/office/drawing/2014/main" id="{7D0CD793-4920-1226-8B4E-DB0BEDFFB9AA}"/>
              </a:ext>
            </a:extLst>
          </p:cNvPr>
          <p:cNvSpPr/>
          <p:nvPr/>
        </p:nvSpPr>
        <p:spPr>
          <a:xfrm>
            <a:off x="274320" y="1133214"/>
            <a:ext cx="209385" cy="24832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68114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1BB27-94BB-9E1C-2FF0-BE03E33E4002}"/>
              </a:ext>
            </a:extLst>
          </p:cNvPr>
          <p:cNvSpPr>
            <a:spLocks noGrp="1"/>
          </p:cNvSpPr>
          <p:nvPr>
            <p:ph type="title"/>
          </p:nvPr>
        </p:nvSpPr>
        <p:spPr>
          <a:xfrm>
            <a:off x="934278" y="258417"/>
            <a:ext cx="10078279" cy="6679096"/>
          </a:xfrm>
        </p:spPr>
        <p:style>
          <a:lnRef idx="2">
            <a:schemeClr val="dk1"/>
          </a:lnRef>
          <a:fillRef idx="1">
            <a:schemeClr val="lt1"/>
          </a:fillRef>
          <a:effectRef idx="0">
            <a:schemeClr val="dk1"/>
          </a:effectRef>
          <a:fontRef idx="minor">
            <a:schemeClr val="dk1"/>
          </a:fontRef>
        </p:style>
        <p:txBody>
          <a:bodyPr anchor="ctr"/>
          <a:lstStyle/>
          <a:p>
            <a:pPr algn="ctr"/>
            <a:r>
              <a:rPr lang="en-IN" sz="2000" b="1" dirty="0"/>
              <a:t>Project architecture &amp; Analytics pipeline</a:t>
            </a:r>
            <a:br>
              <a:rPr lang="en-IN" sz="1100" b="1" dirty="0"/>
            </a:br>
            <a:br>
              <a:rPr lang="en-IN" sz="1100" b="1" dirty="0"/>
            </a:br>
            <a:br>
              <a:rPr lang="en-IN" sz="1100" b="1" dirty="0"/>
            </a:br>
            <a:r>
              <a:rPr lang="en-IN" sz="1200" b="1" dirty="0">
                <a:solidFill>
                  <a:schemeClr val="bg1">
                    <a:lumMod val="95000"/>
                    <a:lumOff val="5000"/>
                  </a:schemeClr>
                </a:solidFill>
              </a:rPr>
              <a:t>Raw Data</a:t>
            </a:r>
            <a:br>
              <a:rPr lang="en-IN" sz="1200" b="1" dirty="0">
                <a:solidFill>
                  <a:schemeClr val="bg1">
                    <a:lumMod val="95000"/>
                    <a:lumOff val="5000"/>
                  </a:schemeClr>
                </a:solidFill>
              </a:rPr>
            </a:br>
            <a:r>
              <a:rPr lang="en-IN" sz="1200" b="1" dirty="0">
                <a:solidFill>
                  <a:schemeClr val="bg1">
                    <a:lumMod val="95000"/>
                    <a:lumOff val="5000"/>
                  </a:schemeClr>
                </a:solidFill>
              </a:rPr>
              <a:t>↓</a:t>
            </a:r>
            <a:br>
              <a:rPr lang="en-IN" sz="1200" b="1" dirty="0">
                <a:solidFill>
                  <a:schemeClr val="bg1">
                    <a:lumMod val="95000"/>
                    <a:lumOff val="5000"/>
                  </a:schemeClr>
                </a:solidFill>
              </a:rPr>
            </a:br>
            <a:r>
              <a:rPr lang="en-IN" sz="1200" b="1" dirty="0">
                <a:solidFill>
                  <a:schemeClr val="bg1">
                    <a:lumMod val="95000"/>
                    <a:lumOff val="5000"/>
                  </a:schemeClr>
                </a:solidFill>
              </a:rPr>
              <a:t>ETL Pipeline</a:t>
            </a:r>
            <a:br>
              <a:rPr lang="en-IN" sz="1200" b="1" dirty="0">
                <a:solidFill>
                  <a:schemeClr val="bg1">
                    <a:lumMod val="95000"/>
                    <a:lumOff val="5000"/>
                  </a:schemeClr>
                </a:solidFill>
              </a:rPr>
            </a:br>
            <a:r>
              <a:rPr lang="en-IN" sz="1200" b="1" dirty="0">
                <a:solidFill>
                  <a:schemeClr val="bg1">
                    <a:lumMod val="95000"/>
                    <a:lumOff val="5000"/>
                  </a:schemeClr>
                </a:solidFill>
              </a:rPr>
              <a:t>↓</a:t>
            </a:r>
            <a:br>
              <a:rPr lang="en-IN" sz="1200" b="1" dirty="0">
                <a:solidFill>
                  <a:schemeClr val="bg1">
                    <a:lumMod val="95000"/>
                    <a:lumOff val="5000"/>
                  </a:schemeClr>
                </a:solidFill>
              </a:rPr>
            </a:br>
            <a:r>
              <a:rPr lang="en-IN" sz="1200" b="1" dirty="0">
                <a:solidFill>
                  <a:schemeClr val="bg1">
                    <a:lumMod val="95000"/>
                    <a:lumOff val="5000"/>
                  </a:schemeClr>
                </a:solidFill>
              </a:rPr>
              <a:t>SQLite Database</a:t>
            </a:r>
            <a:br>
              <a:rPr lang="en-IN" sz="1200" b="1" dirty="0">
                <a:solidFill>
                  <a:schemeClr val="bg1">
                    <a:lumMod val="95000"/>
                    <a:lumOff val="5000"/>
                  </a:schemeClr>
                </a:solidFill>
              </a:rPr>
            </a:br>
            <a:r>
              <a:rPr lang="en-IN" sz="1200" b="1" dirty="0">
                <a:solidFill>
                  <a:schemeClr val="bg1">
                    <a:lumMod val="95000"/>
                    <a:lumOff val="5000"/>
                  </a:schemeClr>
                </a:solidFill>
              </a:rPr>
              <a:t>↓</a:t>
            </a:r>
            <a:br>
              <a:rPr lang="en-IN" sz="1200" b="1" dirty="0">
                <a:solidFill>
                  <a:schemeClr val="bg1">
                    <a:lumMod val="95000"/>
                    <a:lumOff val="5000"/>
                  </a:schemeClr>
                </a:solidFill>
              </a:rPr>
            </a:br>
            <a:r>
              <a:rPr lang="en-IN" sz="1200" b="1" dirty="0">
                <a:solidFill>
                  <a:schemeClr val="bg1">
                    <a:lumMod val="95000"/>
                    <a:lumOff val="5000"/>
                  </a:schemeClr>
                </a:solidFill>
              </a:rPr>
              <a:t>EDA &amp; Analytics</a:t>
            </a:r>
            <a:br>
              <a:rPr lang="en-IN" sz="1200" b="1" dirty="0">
                <a:solidFill>
                  <a:schemeClr val="bg1">
                    <a:lumMod val="95000"/>
                    <a:lumOff val="5000"/>
                  </a:schemeClr>
                </a:solidFill>
              </a:rPr>
            </a:br>
            <a:r>
              <a:rPr lang="en-IN" sz="1200" b="1" dirty="0">
                <a:solidFill>
                  <a:schemeClr val="bg1">
                    <a:lumMod val="95000"/>
                    <a:lumOff val="5000"/>
                  </a:schemeClr>
                </a:solidFill>
              </a:rPr>
              <a:t>↓</a:t>
            </a:r>
            <a:br>
              <a:rPr lang="en-IN" sz="1200" b="1" dirty="0">
                <a:solidFill>
                  <a:schemeClr val="bg1">
                    <a:lumMod val="95000"/>
                    <a:lumOff val="5000"/>
                  </a:schemeClr>
                </a:solidFill>
              </a:rPr>
            </a:br>
            <a:r>
              <a:rPr lang="en-IN" sz="1200" b="1" dirty="0">
                <a:solidFill>
                  <a:schemeClr val="bg1">
                    <a:lumMod val="95000"/>
                    <a:lumOff val="5000"/>
                  </a:schemeClr>
                </a:solidFill>
              </a:rPr>
              <a:t>Risk Metrics</a:t>
            </a:r>
            <a:br>
              <a:rPr lang="en-IN" sz="1200" b="1" dirty="0">
                <a:solidFill>
                  <a:schemeClr val="bg1">
                    <a:lumMod val="95000"/>
                    <a:lumOff val="5000"/>
                  </a:schemeClr>
                </a:solidFill>
              </a:rPr>
            </a:br>
            <a:r>
              <a:rPr lang="en-IN" sz="1200" b="1" dirty="0">
                <a:solidFill>
                  <a:schemeClr val="bg1">
                    <a:lumMod val="95000"/>
                    <a:lumOff val="5000"/>
                  </a:schemeClr>
                </a:solidFill>
              </a:rPr>
              <a:t>↓</a:t>
            </a:r>
            <a:br>
              <a:rPr lang="en-IN" sz="1200" b="1" dirty="0">
                <a:solidFill>
                  <a:schemeClr val="bg1">
                    <a:lumMod val="95000"/>
                    <a:lumOff val="5000"/>
                  </a:schemeClr>
                </a:solidFill>
              </a:rPr>
            </a:br>
            <a:r>
              <a:rPr lang="en-IN" sz="1200" b="1" dirty="0">
                <a:solidFill>
                  <a:schemeClr val="bg1">
                    <a:lumMod val="95000"/>
                    <a:lumOff val="5000"/>
                  </a:schemeClr>
                </a:solidFill>
              </a:rPr>
              <a:t>Dashboard &amp; Reports</a:t>
            </a:r>
            <a:br>
              <a:rPr lang="en-IN" sz="1200" b="1" dirty="0">
                <a:solidFill>
                  <a:schemeClr val="bg1">
                    <a:lumMod val="95000"/>
                    <a:lumOff val="5000"/>
                  </a:schemeClr>
                </a:solidFill>
              </a:rPr>
            </a:br>
            <a:r>
              <a:rPr lang="en-IN" sz="1200" b="1" dirty="0">
                <a:solidFill>
                  <a:schemeClr val="bg1">
                    <a:lumMod val="95000"/>
                    <a:lumOff val="5000"/>
                  </a:schemeClr>
                </a:solidFill>
              </a:rPr>
              <a:t>↓</a:t>
            </a:r>
            <a:br>
              <a:rPr lang="en-IN" sz="1200" b="1" dirty="0">
                <a:solidFill>
                  <a:schemeClr val="bg1">
                    <a:lumMod val="95000"/>
                    <a:lumOff val="5000"/>
                  </a:schemeClr>
                </a:solidFill>
              </a:rPr>
            </a:br>
            <a:r>
              <a:rPr lang="en-IN" sz="1200" b="1" dirty="0">
                <a:solidFill>
                  <a:schemeClr val="bg1">
                    <a:lumMod val="95000"/>
                    <a:lumOff val="5000"/>
                  </a:schemeClr>
                </a:solidFill>
              </a:rPr>
              <a:t>Business Insights</a:t>
            </a:r>
            <a:br>
              <a:rPr lang="en-IN" sz="1200" b="1" dirty="0">
                <a:solidFill>
                  <a:schemeClr val="bg1">
                    <a:lumMod val="95000"/>
                    <a:lumOff val="5000"/>
                  </a:schemeClr>
                </a:solidFill>
              </a:rPr>
            </a:br>
            <a:br>
              <a:rPr lang="en-IN" sz="1200" b="1" dirty="0">
                <a:solidFill>
                  <a:schemeClr val="bg1">
                    <a:lumMod val="95000"/>
                    <a:lumOff val="5000"/>
                  </a:schemeClr>
                </a:solidFill>
              </a:rPr>
            </a:br>
            <a:r>
              <a:rPr lang="en-IN" sz="1100" dirty="0"/>
              <a:t>  </a:t>
            </a:r>
            <a:r>
              <a:rPr lang="en-IN" sz="2000" b="1" dirty="0"/>
              <a:t>Technologies used :</a:t>
            </a:r>
            <a:br>
              <a:rPr lang="en-IN" sz="2000" b="1" dirty="0"/>
            </a:br>
            <a:br>
              <a:rPr lang="en-IN" sz="1400" b="1" dirty="0"/>
            </a:br>
            <a:r>
              <a:rPr lang="en-IN" sz="1400" b="1" dirty="0"/>
              <a:t>1.Python</a:t>
            </a:r>
            <a:br>
              <a:rPr lang="en-IN" sz="1400" b="1" dirty="0"/>
            </a:br>
            <a:r>
              <a:rPr lang="en-IN" sz="1400" b="1" dirty="0"/>
              <a:t>2.Pandas</a:t>
            </a:r>
            <a:br>
              <a:rPr lang="en-IN" sz="1400" b="1" dirty="0"/>
            </a:br>
            <a:r>
              <a:rPr lang="en-IN" sz="1400" b="1" dirty="0"/>
              <a:t>3.NumPy</a:t>
            </a:r>
            <a:br>
              <a:rPr lang="en-IN" sz="1400" b="1" dirty="0"/>
            </a:br>
            <a:r>
              <a:rPr lang="en-IN" sz="1400" b="1" dirty="0"/>
              <a:t>4.SQLite</a:t>
            </a:r>
            <a:br>
              <a:rPr lang="en-IN" sz="1400" b="1" dirty="0"/>
            </a:br>
            <a:r>
              <a:rPr lang="en-IN" sz="1400" b="1" dirty="0"/>
              <a:t>5.Plotly</a:t>
            </a:r>
            <a:br>
              <a:rPr lang="en-IN" sz="1400" b="1" dirty="0"/>
            </a:br>
            <a:r>
              <a:rPr lang="en-IN" sz="1400" b="1" dirty="0"/>
              <a:t>6.Jupyter</a:t>
            </a:r>
            <a:br>
              <a:rPr lang="en-IN" sz="1400" b="1" dirty="0"/>
            </a:br>
            <a:r>
              <a:rPr lang="en-IN" sz="1400" b="1" dirty="0"/>
              <a:t>7.Git &amp; GitHub</a:t>
            </a:r>
            <a:br>
              <a:rPr lang="en-IN" sz="1400" b="1" dirty="0"/>
            </a:br>
            <a:br>
              <a:rPr lang="en-IN" sz="1400" b="1" dirty="0"/>
            </a:br>
            <a:br>
              <a:rPr lang="en-IN" sz="1000" dirty="0"/>
            </a:br>
            <a:r>
              <a:rPr lang="en-IN" sz="1400" b="1" dirty="0"/>
              <a:t>Presentation explanation:</a:t>
            </a:r>
            <a:r>
              <a:rPr lang="en-IN" sz="1400" dirty="0"/>
              <a:t> </a:t>
            </a:r>
            <a:r>
              <a:rPr lang="en-IN" sz="1100" dirty="0"/>
              <a:t>The project follows a structured analytics pipeline. Raw datasets are cleaned and transformed before being stored in SQLite. Analytical modules then generate performance metrics, risk metrics, investor insights, and business reports</a:t>
            </a:r>
            <a:br>
              <a:rPr lang="en-IN" sz="1100" dirty="0"/>
            </a:br>
            <a:br>
              <a:rPr lang="en-IN" sz="1100" dirty="0"/>
            </a:br>
            <a:r>
              <a:rPr lang="en-IN" sz="1100" dirty="0"/>
              <a:t> </a:t>
            </a:r>
            <a:r>
              <a:rPr lang="en-IN" sz="1400" dirty="0"/>
              <a:t>.</a:t>
            </a:r>
            <a:br>
              <a:rPr lang="en-IN" sz="1400" dirty="0"/>
            </a:br>
            <a:endParaRPr lang="en-IN" sz="1400" dirty="0"/>
          </a:p>
        </p:txBody>
      </p:sp>
      <p:sp>
        <p:nvSpPr>
          <p:cNvPr id="3" name="Subtitle 2">
            <a:extLst>
              <a:ext uri="{FF2B5EF4-FFF2-40B4-BE49-F238E27FC236}">
                <a16:creationId xmlns:a16="http://schemas.microsoft.com/office/drawing/2014/main" id="{63503A14-592E-18D6-FDB4-324D170C7B7D}"/>
              </a:ext>
            </a:extLst>
          </p:cNvPr>
          <p:cNvSpPr>
            <a:spLocks noGrp="1"/>
          </p:cNvSpPr>
          <p:nvPr>
            <p:ph type="subTitle" idx="1"/>
          </p:nvPr>
        </p:nvSpPr>
        <p:spPr>
          <a:xfrm flipV="1">
            <a:off x="11547151" y="5695117"/>
            <a:ext cx="45719" cy="129211"/>
          </a:xfrm>
        </p:spPr>
        <p:txBody>
          <a:bodyPr/>
          <a:lstStyle/>
          <a:p>
            <a:endParaRPr lang="en-IN" dirty="0"/>
          </a:p>
        </p:txBody>
      </p:sp>
      <p:sp>
        <p:nvSpPr>
          <p:cNvPr id="4" name="Arrow: Right 3">
            <a:extLst>
              <a:ext uri="{FF2B5EF4-FFF2-40B4-BE49-F238E27FC236}">
                <a16:creationId xmlns:a16="http://schemas.microsoft.com/office/drawing/2014/main" id="{0D183738-668C-FE2E-E6DC-6E2DE684B612}"/>
              </a:ext>
            </a:extLst>
          </p:cNvPr>
          <p:cNvSpPr/>
          <p:nvPr/>
        </p:nvSpPr>
        <p:spPr>
          <a:xfrm>
            <a:off x="3046342" y="318051"/>
            <a:ext cx="288235" cy="28823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18775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C6A15-DE36-8911-50B3-ACAEF40812F4}"/>
              </a:ext>
            </a:extLst>
          </p:cNvPr>
          <p:cNvSpPr>
            <a:spLocks noGrp="1"/>
          </p:cNvSpPr>
          <p:nvPr>
            <p:ph type="title"/>
          </p:nvPr>
        </p:nvSpPr>
        <p:spPr>
          <a:xfrm flipH="1">
            <a:off x="11905798" y="1649896"/>
            <a:ext cx="100672" cy="1308992"/>
          </a:xfrm>
        </p:spPr>
        <p:txBody>
          <a:bodyPr/>
          <a:lstStyle/>
          <a:p>
            <a:endParaRPr lang="en-IN" dirty="0"/>
          </a:p>
        </p:txBody>
      </p:sp>
      <p:sp>
        <p:nvSpPr>
          <p:cNvPr id="3" name="Subtitle 2">
            <a:extLst>
              <a:ext uri="{FF2B5EF4-FFF2-40B4-BE49-F238E27FC236}">
                <a16:creationId xmlns:a16="http://schemas.microsoft.com/office/drawing/2014/main" id="{CE79605B-7A32-9F27-B8CA-198EC4887D8E}"/>
              </a:ext>
            </a:extLst>
          </p:cNvPr>
          <p:cNvSpPr>
            <a:spLocks noGrp="1"/>
          </p:cNvSpPr>
          <p:nvPr>
            <p:ph type="subTitle" idx="1"/>
          </p:nvPr>
        </p:nvSpPr>
        <p:spPr>
          <a:xfrm>
            <a:off x="860959" y="411982"/>
            <a:ext cx="10470082" cy="6169687"/>
          </a:xfrm>
        </p:spPr>
        <p:style>
          <a:lnRef idx="2">
            <a:schemeClr val="dk1"/>
          </a:lnRef>
          <a:fillRef idx="1">
            <a:schemeClr val="lt1"/>
          </a:fillRef>
          <a:effectRef idx="0">
            <a:schemeClr val="dk1"/>
          </a:effectRef>
          <a:fontRef idx="minor">
            <a:schemeClr val="dk1"/>
          </a:fontRef>
        </p:style>
        <p:txBody>
          <a:bodyPr/>
          <a:lstStyle/>
          <a:p>
            <a:r>
              <a:rPr lang="en-IN" sz="2000" b="1" dirty="0"/>
              <a:t>Exploratory data analysis</a:t>
            </a:r>
          </a:p>
          <a:p>
            <a:r>
              <a:rPr lang="en-IN" b="1" dirty="0"/>
              <a:t>EDA performed :</a:t>
            </a:r>
          </a:p>
          <a:p>
            <a:pPr marL="342900" lvl="0" indent="-342900">
              <a:buFont typeface="+mj-lt"/>
              <a:buAutoNum type="arabicPeriod"/>
            </a:pPr>
            <a:r>
              <a:rPr lang="en-IN" dirty="0"/>
              <a:t>NAV trend analysis</a:t>
            </a:r>
          </a:p>
          <a:p>
            <a:pPr marL="342900" lvl="0" indent="-342900">
              <a:buFont typeface="+mj-lt"/>
              <a:buAutoNum type="arabicPeriod"/>
            </a:pPr>
            <a:r>
              <a:rPr lang="en-IN" dirty="0"/>
              <a:t>SIP inflow analysis</a:t>
            </a:r>
          </a:p>
          <a:p>
            <a:pPr marL="342900" lvl="0" indent="-342900">
              <a:buFont typeface="+mj-lt"/>
              <a:buAutoNum type="arabicPeriod"/>
            </a:pPr>
            <a:r>
              <a:rPr lang="en-IN" dirty="0"/>
              <a:t>Investor demographics</a:t>
            </a:r>
          </a:p>
          <a:p>
            <a:pPr marL="342900" lvl="0" indent="-342900">
              <a:buFont typeface="+mj-lt"/>
              <a:buAutoNum type="arabicPeriod"/>
            </a:pPr>
            <a:r>
              <a:rPr lang="en-IN" dirty="0"/>
              <a:t>Geographic investment analysis</a:t>
            </a:r>
          </a:p>
          <a:p>
            <a:pPr marL="342900" lvl="0" indent="-342900">
              <a:buFont typeface="+mj-lt"/>
              <a:buAutoNum type="arabicPeriod"/>
            </a:pPr>
            <a:r>
              <a:rPr lang="en-IN" dirty="0"/>
              <a:t>Correlation analysis</a:t>
            </a:r>
          </a:p>
          <a:p>
            <a:r>
              <a:rPr lang="en-IN" b="1" dirty="0"/>
              <a:t>Key findings :</a:t>
            </a:r>
          </a:p>
          <a:p>
            <a:pPr marL="342900" lvl="0" indent="-342900">
              <a:buFont typeface="+mj-lt"/>
              <a:buAutoNum type="arabicPeriod"/>
            </a:pPr>
            <a:r>
              <a:rPr lang="en-IN" dirty="0"/>
              <a:t>Large-cap funds showed relatively stable growth.</a:t>
            </a:r>
          </a:p>
          <a:p>
            <a:pPr marL="342900" lvl="0" indent="-342900">
              <a:buFont typeface="+mj-lt"/>
              <a:buAutoNum type="arabicPeriod"/>
            </a:pPr>
            <a:r>
              <a:rPr lang="en-IN" dirty="0"/>
              <a:t>SIP participation increased consistently.</a:t>
            </a:r>
          </a:p>
          <a:p>
            <a:pPr marL="342900" lvl="0" indent="-342900">
              <a:buFont typeface="+mj-lt"/>
              <a:buAutoNum type="arabicPeriod"/>
            </a:pPr>
            <a:r>
              <a:rPr lang="en-IN" dirty="0"/>
              <a:t>Metro and Tier-1 cities dominated investments.</a:t>
            </a:r>
          </a:p>
          <a:p>
            <a:pPr marL="342900" lvl="0" indent="-342900">
              <a:buFont typeface="+mj-lt"/>
              <a:buAutoNum type="arabicPeriod"/>
            </a:pPr>
            <a:r>
              <a:rPr lang="en-IN" dirty="0"/>
              <a:t>Retail investor activity remained strong.</a:t>
            </a:r>
          </a:p>
          <a:p>
            <a:endParaRPr lang="en-IN" b="1" dirty="0"/>
          </a:p>
          <a:p>
            <a:r>
              <a:rPr lang="en-IN" b="1" dirty="0"/>
              <a:t>Presentation explanation:</a:t>
            </a:r>
            <a:r>
              <a:rPr lang="en-IN" dirty="0"/>
              <a:t> EDA helped identify long-term investment patterns and investor participation trends. It provided the foundation for subsequent performance and risk analysis.</a:t>
            </a:r>
          </a:p>
          <a:p>
            <a:endParaRPr lang="en-IN" dirty="0"/>
          </a:p>
        </p:txBody>
      </p:sp>
      <p:sp>
        <p:nvSpPr>
          <p:cNvPr id="4" name="Arrow: Right 3">
            <a:extLst>
              <a:ext uri="{FF2B5EF4-FFF2-40B4-BE49-F238E27FC236}">
                <a16:creationId xmlns:a16="http://schemas.microsoft.com/office/drawing/2014/main" id="{6FA518A2-BC23-B74E-9CA3-D1A0E549D382}"/>
              </a:ext>
            </a:extLst>
          </p:cNvPr>
          <p:cNvSpPr/>
          <p:nvPr/>
        </p:nvSpPr>
        <p:spPr>
          <a:xfrm>
            <a:off x="529363" y="502417"/>
            <a:ext cx="331596" cy="28637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1723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2AE68-18E9-1EDF-ABF7-DBD62F366455}"/>
              </a:ext>
            </a:extLst>
          </p:cNvPr>
          <p:cNvSpPr>
            <a:spLocks noGrp="1"/>
          </p:cNvSpPr>
          <p:nvPr>
            <p:ph type="title"/>
          </p:nvPr>
        </p:nvSpPr>
        <p:spPr>
          <a:xfrm>
            <a:off x="772071" y="795130"/>
            <a:ext cx="11051033" cy="5406886"/>
          </a:xfrm>
        </p:spPr>
        <p:style>
          <a:lnRef idx="2">
            <a:schemeClr val="dk1"/>
          </a:lnRef>
          <a:fillRef idx="1">
            <a:schemeClr val="lt1"/>
          </a:fillRef>
          <a:effectRef idx="0">
            <a:schemeClr val="dk1"/>
          </a:effectRef>
          <a:fontRef idx="minor">
            <a:schemeClr val="dk1"/>
          </a:fontRef>
        </p:style>
        <p:txBody>
          <a:bodyPr/>
          <a:lstStyle/>
          <a:p>
            <a:r>
              <a:rPr lang="en-IN" sz="2400" b="1" dirty="0"/>
              <a:t>Investor analytics :</a:t>
            </a:r>
            <a:br>
              <a:rPr lang="en-IN" sz="1800" b="1" dirty="0"/>
            </a:br>
            <a:br>
              <a:rPr lang="en-IN" sz="1800" b="1" dirty="0"/>
            </a:br>
            <a:r>
              <a:rPr lang="en-IN" sz="1800" b="1" dirty="0"/>
              <a:t>Investor </a:t>
            </a:r>
            <a:r>
              <a:rPr lang="en-IN" sz="1800" b="1" dirty="0" err="1"/>
              <a:t>behavior</a:t>
            </a:r>
            <a:r>
              <a:rPr lang="en-IN" sz="1800" b="1" dirty="0"/>
              <a:t> findings</a:t>
            </a:r>
            <a:br>
              <a:rPr lang="en-IN" sz="1800" b="1" dirty="0"/>
            </a:br>
            <a:br>
              <a:rPr lang="en-IN" sz="1800" b="1" dirty="0"/>
            </a:br>
            <a:r>
              <a:rPr lang="en-IN" sz="1800" b="1" dirty="0"/>
              <a:t>1. </a:t>
            </a:r>
            <a:r>
              <a:rPr lang="en-IN" sz="1800" dirty="0"/>
              <a:t>25–40 age group was the most active segment.</a:t>
            </a:r>
            <a:br>
              <a:rPr lang="en-IN" sz="1800" dirty="0"/>
            </a:br>
            <a:r>
              <a:rPr lang="en-IN" sz="1800" dirty="0"/>
              <a:t>2. 2024 cohort had the highest investment participation.</a:t>
            </a:r>
            <a:br>
              <a:rPr lang="en-IN" sz="1800" dirty="0"/>
            </a:br>
            <a:r>
              <a:rPr lang="en-IN" sz="1800" dirty="0"/>
              <a:t>3 .UTI Nifty 50 Index Fund was the most preferred scheme.</a:t>
            </a:r>
            <a:br>
              <a:rPr lang="en-IN" sz="1800" dirty="0"/>
            </a:br>
            <a:r>
              <a:rPr lang="en-IN" sz="1800" dirty="0"/>
              <a:t>4 .Younger investors showed stronger SIP participation.</a:t>
            </a:r>
            <a:br>
              <a:rPr lang="en-IN" sz="1800" dirty="0"/>
            </a:br>
            <a:br>
              <a:rPr lang="en-IN" sz="1800" dirty="0"/>
            </a:br>
            <a:br>
              <a:rPr lang="en-IN" sz="1800" dirty="0"/>
            </a:br>
            <a:r>
              <a:rPr lang="en-IN" sz="1800" b="1" dirty="0"/>
              <a:t>Business impact</a:t>
            </a:r>
            <a:br>
              <a:rPr lang="en-IN" sz="1800" b="1" dirty="0"/>
            </a:br>
            <a:br>
              <a:rPr lang="en-IN" sz="1800" b="1" dirty="0"/>
            </a:br>
            <a:r>
              <a:rPr lang="en-IN" sz="1800" b="1" dirty="0"/>
              <a:t>1. </a:t>
            </a:r>
            <a:r>
              <a:rPr lang="en-IN" sz="1800" dirty="0"/>
              <a:t>Better customer segmentation.</a:t>
            </a:r>
            <a:br>
              <a:rPr lang="en-IN" sz="1800" dirty="0"/>
            </a:br>
            <a:r>
              <a:rPr lang="en-IN" sz="1800" dirty="0"/>
              <a:t>2. Improved product targeting.</a:t>
            </a:r>
            <a:br>
              <a:rPr lang="en-IN" sz="1800" dirty="0"/>
            </a:br>
            <a:r>
              <a:rPr lang="en-IN" sz="1800" dirty="0"/>
              <a:t>3. Enhanced investor retention strategies.</a:t>
            </a:r>
            <a:br>
              <a:rPr lang="en-IN" sz="1800" dirty="0"/>
            </a:br>
            <a:br>
              <a:rPr lang="en-IN" sz="1800" dirty="0"/>
            </a:br>
            <a:br>
              <a:rPr lang="en-IN" sz="1800" dirty="0"/>
            </a:br>
            <a:r>
              <a:rPr lang="en-IN" sz="1800" b="1" dirty="0"/>
              <a:t>Presentation explanation:</a:t>
            </a:r>
            <a:r>
              <a:rPr lang="en-IN" sz="1800" dirty="0"/>
              <a:t> Understanding investor </a:t>
            </a:r>
            <a:r>
              <a:rPr lang="en-IN" sz="1800" dirty="0" err="1"/>
              <a:t>behavior</a:t>
            </a:r>
            <a:r>
              <a:rPr lang="en-IN" sz="1800" dirty="0"/>
              <a:t> is important for fund houses because it helps identify high-value customer segments and improve marketing and retention strategies.</a:t>
            </a:r>
            <a:br>
              <a:rPr lang="en-IN" sz="1800" dirty="0"/>
            </a:br>
            <a:endParaRPr lang="en-IN" sz="1800" dirty="0"/>
          </a:p>
        </p:txBody>
      </p:sp>
      <p:sp>
        <p:nvSpPr>
          <p:cNvPr id="3" name="Subtitle 2">
            <a:extLst>
              <a:ext uri="{FF2B5EF4-FFF2-40B4-BE49-F238E27FC236}">
                <a16:creationId xmlns:a16="http://schemas.microsoft.com/office/drawing/2014/main" id="{276FBF4F-F2C7-9D61-D252-163E66F8FDD4}"/>
              </a:ext>
            </a:extLst>
          </p:cNvPr>
          <p:cNvSpPr>
            <a:spLocks noGrp="1"/>
          </p:cNvSpPr>
          <p:nvPr>
            <p:ph type="subTitle" idx="1"/>
          </p:nvPr>
        </p:nvSpPr>
        <p:spPr>
          <a:xfrm flipV="1">
            <a:off x="11234133" y="4492485"/>
            <a:ext cx="371592" cy="278298"/>
          </a:xfrm>
        </p:spPr>
        <p:txBody>
          <a:bodyPr/>
          <a:lstStyle/>
          <a:p>
            <a:endParaRPr lang="en-IN" dirty="0"/>
          </a:p>
        </p:txBody>
      </p:sp>
      <p:sp>
        <p:nvSpPr>
          <p:cNvPr id="5" name="Arrow: Right 4">
            <a:extLst>
              <a:ext uri="{FF2B5EF4-FFF2-40B4-BE49-F238E27FC236}">
                <a16:creationId xmlns:a16="http://schemas.microsoft.com/office/drawing/2014/main" id="{C044DC7D-AB99-3ADB-5F72-4789D9D9CE98}"/>
              </a:ext>
            </a:extLst>
          </p:cNvPr>
          <p:cNvSpPr/>
          <p:nvPr/>
        </p:nvSpPr>
        <p:spPr>
          <a:xfrm>
            <a:off x="382854" y="864704"/>
            <a:ext cx="308114" cy="28823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0305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EDA2B-FB06-8217-7161-0A1AE56A9C8B}"/>
              </a:ext>
            </a:extLst>
          </p:cNvPr>
          <p:cNvSpPr>
            <a:spLocks noGrp="1"/>
          </p:cNvSpPr>
          <p:nvPr>
            <p:ph type="title"/>
          </p:nvPr>
        </p:nvSpPr>
        <p:spPr>
          <a:xfrm>
            <a:off x="661900" y="457200"/>
            <a:ext cx="11631478" cy="6520070"/>
          </a:xfrm>
        </p:spPr>
        <p:style>
          <a:lnRef idx="2">
            <a:schemeClr val="dk1"/>
          </a:lnRef>
          <a:fillRef idx="1">
            <a:schemeClr val="lt1"/>
          </a:fillRef>
          <a:effectRef idx="0">
            <a:schemeClr val="dk1"/>
          </a:effectRef>
          <a:fontRef idx="minor">
            <a:schemeClr val="dk1"/>
          </a:fontRef>
        </p:style>
        <p:txBody>
          <a:bodyPr/>
          <a:lstStyle/>
          <a:p>
            <a:br>
              <a:rPr lang="en-IN" sz="1800" b="1" dirty="0"/>
            </a:br>
            <a:r>
              <a:rPr lang="en-IN" sz="2400" b="1" dirty="0"/>
              <a:t>Performance analytics </a:t>
            </a:r>
            <a:br>
              <a:rPr lang="en-IN" sz="2400" b="1" dirty="0"/>
            </a:br>
            <a:br>
              <a:rPr lang="en-IN" sz="1800" b="1" dirty="0"/>
            </a:br>
            <a:r>
              <a:rPr lang="en-IN" sz="1800" b="1" dirty="0"/>
              <a:t> Metrics calculated :</a:t>
            </a:r>
            <a:br>
              <a:rPr lang="en-IN" sz="1800" b="1" dirty="0"/>
            </a:br>
            <a:r>
              <a:rPr lang="en-IN" sz="1800" b="1" dirty="0"/>
              <a:t>  1. </a:t>
            </a:r>
            <a:r>
              <a:rPr lang="en-IN" sz="1800" dirty="0"/>
              <a:t>CAGR</a:t>
            </a:r>
            <a:br>
              <a:rPr lang="en-IN" sz="1800" dirty="0"/>
            </a:br>
            <a:r>
              <a:rPr lang="en-IN" sz="1800" dirty="0"/>
              <a:t>  2. Sharpe Ratio</a:t>
            </a:r>
            <a:br>
              <a:rPr lang="en-IN" sz="1800" dirty="0"/>
            </a:br>
            <a:r>
              <a:rPr lang="en-IN" sz="1800" dirty="0"/>
              <a:t>  3. Sortino Ratio</a:t>
            </a:r>
            <a:br>
              <a:rPr lang="en-IN" sz="1800" dirty="0"/>
            </a:br>
            <a:r>
              <a:rPr lang="en-IN" sz="1800" dirty="0"/>
              <a:t>  4. Alpha</a:t>
            </a:r>
            <a:br>
              <a:rPr lang="en-IN" sz="1800" dirty="0"/>
            </a:br>
            <a:r>
              <a:rPr lang="en-IN" sz="1800" dirty="0"/>
              <a:t>  5. Beta</a:t>
            </a:r>
            <a:br>
              <a:rPr lang="en-IN" sz="1800" dirty="0"/>
            </a:br>
            <a:r>
              <a:rPr lang="en-IN" sz="1800" dirty="0"/>
              <a:t>  6. Maximum Drawdown</a:t>
            </a:r>
            <a:br>
              <a:rPr lang="en-IN" sz="1800" dirty="0"/>
            </a:br>
            <a:r>
              <a:rPr lang="en-IN" sz="1800" dirty="0"/>
              <a:t>  7. Tracking Error</a:t>
            </a:r>
            <a:br>
              <a:rPr lang="en-IN" sz="1800" dirty="0"/>
            </a:br>
            <a:br>
              <a:rPr lang="en-IN" sz="1800" dirty="0"/>
            </a:br>
            <a:r>
              <a:rPr lang="en-IN" sz="2000" b="1" dirty="0"/>
              <a:t>Results</a:t>
            </a:r>
            <a:br>
              <a:rPr lang="en-IN" sz="1800" b="1" dirty="0"/>
            </a:br>
            <a:r>
              <a:rPr lang="en-IN" sz="1800" dirty="0"/>
              <a:t>Large-cap funds delivered stronger risk-adjusted returns.</a:t>
            </a:r>
            <a:br>
              <a:rPr lang="en-IN" sz="1800" dirty="0"/>
            </a:br>
            <a:r>
              <a:rPr lang="en-IN" sz="1800" dirty="0"/>
              <a:t>Mid-cap funds offered higher growth potential.</a:t>
            </a:r>
            <a:br>
              <a:rPr lang="en-IN" sz="1800" dirty="0"/>
            </a:br>
            <a:r>
              <a:rPr lang="en-IN" sz="1800" dirty="0"/>
              <a:t>Small-cap funds exhibited greater volatility.</a:t>
            </a:r>
            <a:br>
              <a:rPr lang="en-IN" sz="1800" dirty="0"/>
            </a:br>
            <a:br>
              <a:rPr lang="en-IN" sz="1800" dirty="0"/>
            </a:br>
            <a:r>
              <a:rPr lang="en-IN" sz="1800" b="1" dirty="0"/>
              <a:t>Presentation explanation:</a:t>
            </a:r>
            <a:r>
              <a:rPr lang="en-IN" sz="1800" dirty="0"/>
              <a:t> Performance analytics focused on evaluating the quality of returns rather than absolute returns alone. Sharpe and Sortino ratios helped identify funds that generated better returns relative to risk.</a:t>
            </a:r>
            <a:br>
              <a:rPr lang="en-IN" sz="1800" dirty="0"/>
            </a:br>
            <a:br>
              <a:rPr lang="en-IN" sz="1800" dirty="0"/>
            </a:br>
            <a:br>
              <a:rPr lang="en-IN" sz="1800" dirty="0"/>
            </a:br>
            <a:endParaRPr lang="en-IN" sz="1800" dirty="0"/>
          </a:p>
        </p:txBody>
      </p:sp>
      <p:sp>
        <p:nvSpPr>
          <p:cNvPr id="3" name="Subtitle 2">
            <a:extLst>
              <a:ext uri="{FF2B5EF4-FFF2-40B4-BE49-F238E27FC236}">
                <a16:creationId xmlns:a16="http://schemas.microsoft.com/office/drawing/2014/main" id="{DE80D5C9-7789-A734-B314-3B4E5179E1F7}"/>
              </a:ext>
            </a:extLst>
          </p:cNvPr>
          <p:cNvSpPr>
            <a:spLocks noGrp="1"/>
          </p:cNvSpPr>
          <p:nvPr>
            <p:ph type="subTitle" idx="1"/>
          </p:nvPr>
        </p:nvSpPr>
        <p:spPr>
          <a:xfrm flipH="1" flipV="1">
            <a:off x="12247659" y="5575850"/>
            <a:ext cx="45719" cy="159028"/>
          </a:xfrm>
        </p:spPr>
        <p:txBody>
          <a:bodyPr/>
          <a:lstStyle/>
          <a:p>
            <a:endParaRPr lang="en-IN" dirty="0"/>
          </a:p>
        </p:txBody>
      </p:sp>
      <p:sp>
        <p:nvSpPr>
          <p:cNvPr id="4" name="Arrow: Right 3">
            <a:extLst>
              <a:ext uri="{FF2B5EF4-FFF2-40B4-BE49-F238E27FC236}">
                <a16:creationId xmlns:a16="http://schemas.microsoft.com/office/drawing/2014/main" id="{F809BF98-0C58-C79A-69D6-952F7EEF9396}"/>
              </a:ext>
            </a:extLst>
          </p:cNvPr>
          <p:cNvSpPr/>
          <p:nvPr/>
        </p:nvSpPr>
        <p:spPr>
          <a:xfrm>
            <a:off x="258417" y="800099"/>
            <a:ext cx="323970" cy="26835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94708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B19DB-081B-4BE3-7A30-37111FF252E5}"/>
              </a:ext>
            </a:extLst>
          </p:cNvPr>
          <p:cNvSpPr>
            <a:spLocks noGrp="1"/>
          </p:cNvSpPr>
          <p:nvPr>
            <p:ph type="title"/>
          </p:nvPr>
        </p:nvSpPr>
        <p:spPr>
          <a:xfrm>
            <a:off x="616226" y="580300"/>
            <a:ext cx="11295512" cy="5711169"/>
          </a:xfrm>
        </p:spPr>
        <p:style>
          <a:lnRef idx="2">
            <a:schemeClr val="dk1"/>
          </a:lnRef>
          <a:fillRef idx="1">
            <a:schemeClr val="lt1"/>
          </a:fillRef>
          <a:effectRef idx="0">
            <a:schemeClr val="dk1"/>
          </a:effectRef>
          <a:fontRef idx="minor">
            <a:schemeClr val="dk1"/>
          </a:fontRef>
        </p:style>
        <p:txBody>
          <a:bodyPr/>
          <a:lstStyle/>
          <a:p>
            <a:r>
              <a:rPr lang="en-IN" sz="2400" b="1" dirty="0"/>
              <a:t>Advanced risk analytics :</a:t>
            </a:r>
            <a:br>
              <a:rPr lang="en-IN" sz="2000" b="1" dirty="0"/>
            </a:br>
            <a:br>
              <a:rPr lang="en-IN" sz="2000" b="1" dirty="0"/>
            </a:br>
            <a:r>
              <a:rPr lang="en-IN" sz="2000" b="1" dirty="0"/>
              <a:t>Risk metrics</a:t>
            </a:r>
            <a:br>
              <a:rPr lang="en-IN" sz="2000" b="1" dirty="0"/>
            </a:br>
            <a:br>
              <a:rPr lang="en-IN" sz="2000" b="1" dirty="0"/>
            </a:br>
            <a:r>
              <a:rPr lang="en-IN" sz="2000" b="1" dirty="0"/>
              <a:t> </a:t>
            </a:r>
            <a:r>
              <a:rPr lang="en-IN" sz="1800" dirty="0"/>
              <a:t>1. Historical </a:t>
            </a:r>
            <a:r>
              <a:rPr lang="en-IN" sz="1800" dirty="0" err="1"/>
              <a:t>VaR</a:t>
            </a:r>
            <a:r>
              <a:rPr lang="en-IN" sz="1800" dirty="0"/>
              <a:t> (95%)</a:t>
            </a:r>
            <a:br>
              <a:rPr lang="en-IN" sz="1800" dirty="0"/>
            </a:br>
            <a:r>
              <a:rPr lang="en-IN" sz="1800" dirty="0"/>
              <a:t> 2. Conditional </a:t>
            </a:r>
            <a:r>
              <a:rPr lang="en-IN" sz="1800" dirty="0" err="1"/>
              <a:t>VaR</a:t>
            </a:r>
            <a:r>
              <a:rPr lang="en-IN" sz="1800" dirty="0"/>
              <a:t> (CVaR)</a:t>
            </a:r>
            <a:br>
              <a:rPr lang="en-IN" sz="1800" dirty="0"/>
            </a:br>
            <a:r>
              <a:rPr lang="en-IN" sz="1800" dirty="0"/>
              <a:t> 3. Rolling 90-day Sharpe Ratio</a:t>
            </a:r>
            <a:br>
              <a:rPr lang="en-IN" sz="1800" dirty="0"/>
            </a:br>
            <a:r>
              <a:rPr lang="en-IN" sz="1800" dirty="0"/>
              <a:t> 4. Sector HHI concentration</a:t>
            </a:r>
            <a:br>
              <a:rPr lang="en-IN" sz="2000" dirty="0"/>
            </a:br>
            <a:br>
              <a:rPr lang="en-IN" sz="2000" dirty="0"/>
            </a:br>
            <a:r>
              <a:rPr lang="en-IN" sz="2000" b="1" dirty="0"/>
              <a:t>Major observations</a:t>
            </a:r>
            <a:br>
              <a:rPr lang="en-IN" sz="2000" b="1" dirty="0"/>
            </a:br>
            <a:br>
              <a:rPr lang="en-IN" sz="2000" b="1" dirty="0"/>
            </a:br>
            <a:r>
              <a:rPr lang="en-IN" sz="1800" dirty="0"/>
              <a:t>1. Small-cap funds had the highest downside risk.</a:t>
            </a:r>
            <a:br>
              <a:rPr lang="en-IN" sz="1800" dirty="0"/>
            </a:br>
            <a:r>
              <a:rPr lang="en-IN" sz="1800" dirty="0"/>
              <a:t>2. CVaR captured extreme loss scenarios.</a:t>
            </a:r>
            <a:br>
              <a:rPr lang="en-IN" sz="1800" dirty="0"/>
            </a:br>
            <a:r>
              <a:rPr lang="en-IN" sz="1800" dirty="0"/>
              <a:t>3. Rolling Sharpe identified changing fund efficiency.</a:t>
            </a:r>
            <a:br>
              <a:rPr lang="en-IN" sz="1800" dirty="0"/>
            </a:br>
            <a:r>
              <a:rPr lang="en-IN" sz="1800" dirty="0"/>
              <a:t>4. HHI highlighted concentration risk across sectors.</a:t>
            </a:r>
            <a:br>
              <a:rPr lang="en-IN" sz="1800" dirty="0"/>
            </a:br>
            <a:br>
              <a:rPr lang="en-IN" sz="2000" dirty="0"/>
            </a:br>
            <a:r>
              <a:rPr lang="en-IN" sz="2000" b="1" dirty="0"/>
              <a:t>Presentation explanation:</a:t>
            </a:r>
            <a:r>
              <a:rPr lang="en-IN" sz="2000" dirty="0"/>
              <a:t> Advanced risk analytics provided a deeper understanding of portfolio risk. </a:t>
            </a:r>
            <a:r>
              <a:rPr lang="en-IN" sz="2000" dirty="0" err="1"/>
              <a:t>VaR</a:t>
            </a:r>
            <a:r>
              <a:rPr lang="en-IN" sz="2000" dirty="0"/>
              <a:t> estimated expected losses, while CVaR measured the severity of losses during adverse market conditions.</a:t>
            </a:r>
            <a:br>
              <a:rPr lang="en-IN" sz="2000" dirty="0"/>
            </a:br>
            <a:endParaRPr lang="en-IN" sz="2000" dirty="0"/>
          </a:p>
        </p:txBody>
      </p:sp>
      <p:sp>
        <p:nvSpPr>
          <p:cNvPr id="3" name="Subtitle 2">
            <a:extLst>
              <a:ext uri="{FF2B5EF4-FFF2-40B4-BE49-F238E27FC236}">
                <a16:creationId xmlns:a16="http://schemas.microsoft.com/office/drawing/2014/main" id="{EC3B603B-D8B1-1070-6A90-3B43A530C564}"/>
              </a:ext>
            </a:extLst>
          </p:cNvPr>
          <p:cNvSpPr>
            <a:spLocks noGrp="1"/>
          </p:cNvSpPr>
          <p:nvPr>
            <p:ph type="subTitle" idx="1"/>
          </p:nvPr>
        </p:nvSpPr>
        <p:spPr>
          <a:xfrm rot="20495202" flipH="1">
            <a:off x="9020759" y="5914348"/>
            <a:ext cx="179746" cy="48953"/>
          </a:xfrm>
        </p:spPr>
        <p:txBody>
          <a:bodyPr/>
          <a:lstStyle/>
          <a:p>
            <a:endParaRPr lang="en-IN" dirty="0"/>
          </a:p>
        </p:txBody>
      </p:sp>
      <p:sp>
        <p:nvSpPr>
          <p:cNvPr id="4" name="Arrow: Right 3">
            <a:extLst>
              <a:ext uri="{FF2B5EF4-FFF2-40B4-BE49-F238E27FC236}">
                <a16:creationId xmlns:a16="http://schemas.microsoft.com/office/drawing/2014/main" id="{0E74569C-9F1B-017D-FF2C-567E5B01236A}"/>
              </a:ext>
            </a:extLst>
          </p:cNvPr>
          <p:cNvSpPr/>
          <p:nvPr/>
        </p:nvSpPr>
        <p:spPr>
          <a:xfrm>
            <a:off x="278295" y="675860"/>
            <a:ext cx="337931" cy="327991"/>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83949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7B038-DD27-503E-2E61-9390F96B6483}"/>
              </a:ext>
            </a:extLst>
          </p:cNvPr>
          <p:cNvSpPr>
            <a:spLocks noGrp="1"/>
          </p:cNvSpPr>
          <p:nvPr>
            <p:ph type="title"/>
          </p:nvPr>
        </p:nvSpPr>
        <p:spPr>
          <a:xfrm>
            <a:off x="427382" y="506895"/>
            <a:ext cx="11478415" cy="5897881"/>
          </a:xfrm>
        </p:spPr>
        <p:style>
          <a:lnRef idx="2">
            <a:schemeClr val="dk1"/>
          </a:lnRef>
          <a:fillRef idx="1">
            <a:schemeClr val="lt1"/>
          </a:fillRef>
          <a:effectRef idx="0">
            <a:schemeClr val="dk1"/>
          </a:effectRef>
          <a:fontRef idx="minor">
            <a:schemeClr val="dk1"/>
          </a:fontRef>
        </p:style>
        <p:txBody>
          <a:bodyPr/>
          <a:lstStyle/>
          <a:p>
            <a:r>
              <a:rPr lang="en-IN" sz="2400" b="1" dirty="0"/>
              <a:t>SIP continuity analysis</a:t>
            </a:r>
            <a:br>
              <a:rPr lang="en-IN" sz="1600" b="1" dirty="0"/>
            </a:br>
            <a:br>
              <a:rPr lang="en-IN" sz="1600" b="1" dirty="0"/>
            </a:br>
            <a:r>
              <a:rPr lang="en-IN" sz="1800" b="1" dirty="0"/>
              <a:t>Methodology:</a:t>
            </a:r>
            <a:br>
              <a:rPr lang="en-IN" sz="1600" b="1" dirty="0"/>
            </a:br>
            <a:br>
              <a:rPr lang="en-IN" sz="1600" b="1" dirty="0"/>
            </a:br>
            <a:r>
              <a:rPr lang="en-IN" sz="1800" dirty="0"/>
              <a:t>1. Investors with 6+ SIP transactions </a:t>
            </a:r>
            <a:r>
              <a:rPr lang="en-IN" sz="1800" dirty="0" err="1"/>
              <a:t>analyzed</a:t>
            </a:r>
            <a:r>
              <a:rPr lang="en-IN" sz="1800" dirty="0"/>
              <a:t>.</a:t>
            </a:r>
            <a:br>
              <a:rPr lang="en-IN" sz="1800" dirty="0"/>
            </a:br>
            <a:r>
              <a:rPr lang="en-IN" sz="1800" dirty="0"/>
              <a:t>2. Average gap between SIP dates calculated.</a:t>
            </a:r>
            <a:br>
              <a:rPr lang="en-IN" sz="1800" dirty="0"/>
            </a:br>
            <a:r>
              <a:rPr lang="en-IN" sz="1800" dirty="0"/>
              <a:t>3. Gap &gt; 35 days classified as At-Risk</a:t>
            </a:r>
            <a:r>
              <a:rPr lang="en-IN" sz="1600" dirty="0"/>
              <a:t>.</a:t>
            </a:r>
            <a:br>
              <a:rPr lang="en-IN" sz="1600" dirty="0"/>
            </a:br>
            <a:br>
              <a:rPr lang="en-IN" sz="1600" dirty="0"/>
            </a:br>
            <a:r>
              <a:rPr lang="en-IN" sz="1800" b="1" dirty="0"/>
              <a:t>Results:</a:t>
            </a:r>
            <a:br>
              <a:rPr lang="en-IN" sz="1600" b="1" dirty="0"/>
            </a:br>
            <a:br>
              <a:rPr lang="en-IN" sz="1600" b="1" dirty="0"/>
            </a:br>
            <a:r>
              <a:rPr lang="en-IN" sz="1600" b="1" dirty="0"/>
              <a:t>1,332 At-Risk investors identified.</a:t>
            </a:r>
            <a:br>
              <a:rPr lang="en-IN" sz="1600" b="1" dirty="0"/>
            </a:br>
            <a:br>
              <a:rPr lang="en-IN" sz="1600" dirty="0"/>
            </a:br>
            <a:r>
              <a:rPr lang="en-IN" sz="1800" b="1" dirty="0"/>
              <a:t>Business value:</a:t>
            </a:r>
            <a:br>
              <a:rPr lang="en-IN" sz="1600" b="1" dirty="0"/>
            </a:br>
            <a:br>
              <a:rPr lang="en-IN" sz="1600" b="1" dirty="0"/>
            </a:br>
            <a:r>
              <a:rPr lang="en-IN" sz="1800" dirty="0"/>
              <a:t>1. Early investor retention.</a:t>
            </a:r>
            <a:br>
              <a:rPr lang="en-IN" sz="1800" dirty="0"/>
            </a:br>
            <a:r>
              <a:rPr lang="en-IN" sz="1800" dirty="0"/>
              <a:t>2. Automated reminder systems.</a:t>
            </a:r>
            <a:br>
              <a:rPr lang="en-IN" sz="1800" dirty="0"/>
            </a:br>
            <a:r>
              <a:rPr lang="en-IN" sz="1800" dirty="0"/>
              <a:t>3. Improved SIP continuation rates.</a:t>
            </a:r>
            <a:br>
              <a:rPr lang="en-IN" sz="1800" dirty="0"/>
            </a:br>
            <a:br>
              <a:rPr lang="en-IN" sz="1600" dirty="0"/>
            </a:br>
            <a:r>
              <a:rPr lang="en-IN" sz="1600" b="1" dirty="0"/>
              <a:t>Presentation explanation:</a:t>
            </a:r>
            <a:r>
              <a:rPr lang="en-IN" sz="1600" dirty="0"/>
              <a:t> SIP continuity analysis is valuable because regular SIP investments are critical for long-term wealth creation. Identifying at-risk investors allows fund houses to take proactive retention measures.</a:t>
            </a:r>
            <a:br>
              <a:rPr lang="en-IN" sz="1600" dirty="0"/>
            </a:br>
            <a:br>
              <a:rPr lang="en-IN" sz="1600" dirty="0"/>
            </a:br>
            <a:br>
              <a:rPr lang="en-IN" sz="1600" dirty="0"/>
            </a:br>
            <a:endParaRPr lang="en-IN" sz="1600" dirty="0"/>
          </a:p>
        </p:txBody>
      </p:sp>
      <p:sp>
        <p:nvSpPr>
          <p:cNvPr id="3" name="Subtitle 2">
            <a:extLst>
              <a:ext uri="{FF2B5EF4-FFF2-40B4-BE49-F238E27FC236}">
                <a16:creationId xmlns:a16="http://schemas.microsoft.com/office/drawing/2014/main" id="{07665226-F091-A559-C41D-9FF2EB3AB4E4}"/>
              </a:ext>
            </a:extLst>
          </p:cNvPr>
          <p:cNvSpPr>
            <a:spLocks noGrp="1"/>
          </p:cNvSpPr>
          <p:nvPr>
            <p:ph type="subTitle" idx="1"/>
          </p:nvPr>
        </p:nvSpPr>
        <p:spPr>
          <a:xfrm flipH="1">
            <a:off x="11905798" y="4585912"/>
            <a:ext cx="155182" cy="45719"/>
          </a:xfrm>
        </p:spPr>
        <p:txBody>
          <a:bodyPr/>
          <a:lstStyle/>
          <a:p>
            <a:endParaRPr lang="en-IN"/>
          </a:p>
        </p:txBody>
      </p:sp>
      <p:sp>
        <p:nvSpPr>
          <p:cNvPr id="4" name="Arrow: Right 3">
            <a:extLst>
              <a:ext uri="{FF2B5EF4-FFF2-40B4-BE49-F238E27FC236}">
                <a16:creationId xmlns:a16="http://schemas.microsoft.com/office/drawing/2014/main" id="{A704DBAA-E8E9-B1C3-8FFE-5CB154FA338E}"/>
              </a:ext>
            </a:extLst>
          </p:cNvPr>
          <p:cNvSpPr/>
          <p:nvPr/>
        </p:nvSpPr>
        <p:spPr>
          <a:xfrm>
            <a:off x="139148" y="576469"/>
            <a:ext cx="288233" cy="33793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98824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6F9D9-4B2C-D40C-3600-8D342DB71A70}"/>
              </a:ext>
            </a:extLst>
          </p:cNvPr>
          <p:cNvSpPr>
            <a:spLocks noGrp="1"/>
          </p:cNvSpPr>
          <p:nvPr>
            <p:ph type="title"/>
          </p:nvPr>
        </p:nvSpPr>
        <p:spPr>
          <a:xfrm>
            <a:off x="864704" y="119270"/>
            <a:ext cx="11041094" cy="6738729"/>
          </a:xfrm>
        </p:spPr>
        <p:style>
          <a:lnRef idx="2">
            <a:schemeClr val="dk1"/>
          </a:lnRef>
          <a:fillRef idx="1">
            <a:schemeClr val="lt1"/>
          </a:fillRef>
          <a:effectRef idx="0">
            <a:schemeClr val="dk1"/>
          </a:effectRef>
          <a:fontRef idx="minor">
            <a:schemeClr val="dk1"/>
          </a:fontRef>
        </p:style>
        <p:txBody>
          <a:bodyPr/>
          <a:lstStyle/>
          <a:p>
            <a:r>
              <a:rPr lang="en-IN" sz="2400" b="1" dirty="0"/>
              <a:t>Fund recommendation engine</a:t>
            </a:r>
            <a:br>
              <a:rPr lang="en-IN" sz="2400" b="1" dirty="0"/>
            </a:br>
            <a:br>
              <a:rPr lang="en-IN" sz="1800" b="1" dirty="0"/>
            </a:br>
            <a:r>
              <a:rPr lang="en-IN" sz="1800" b="1" dirty="0"/>
              <a:t>Recommendation categories :</a:t>
            </a:r>
            <a:br>
              <a:rPr lang="en-IN" sz="1800" b="1" dirty="0"/>
            </a:br>
            <a:br>
              <a:rPr lang="en-IN" sz="1800" b="1" dirty="0"/>
            </a:br>
            <a:r>
              <a:rPr lang="en-IN" sz="1800" b="1" dirty="0"/>
              <a:t> &gt; Low risk</a:t>
            </a:r>
            <a:br>
              <a:rPr lang="en-IN" sz="1800" dirty="0"/>
            </a:br>
            <a:r>
              <a:rPr lang="en-IN" sz="1800" dirty="0"/>
              <a:t> 1. ICICI Pru Liquid Fund</a:t>
            </a:r>
            <a:br>
              <a:rPr lang="en-IN" sz="1800" dirty="0"/>
            </a:br>
            <a:r>
              <a:rPr lang="en-IN" sz="1800" dirty="0"/>
              <a:t> 2. Kotak Liquid Fund</a:t>
            </a:r>
            <a:br>
              <a:rPr lang="en-IN" sz="1800" dirty="0"/>
            </a:br>
            <a:r>
              <a:rPr lang="en-IN" sz="1800" dirty="0"/>
              <a:t> 3. SBI Magnum Gilt Fund</a:t>
            </a:r>
            <a:br>
              <a:rPr lang="en-IN" sz="1800" dirty="0"/>
            </a:br>
            <a:br>
              <a:rPr lang="en-IN" sz="1800" dirty="0"/>
            </a:br>
            <a:r>
              <a:rPr lang="en-IN" sz="1800" dirty="0"/>
              <a:t> &gt;</a:t>
            </a:r>
            <a:r>
              <a:rPr lang="en-IN" sz="1800" b="1" dirty="0"/>
              <a:t>Moderate risk</a:t>
            </a:r>
            <a:br>
              <a:rPr lang="en-IN" sz="1800" dirty="0"/>
            </a:br>
            <a:r>
              <a:rPr lang="en-IN" sz="1800" dirty="0"/>
              <a:t> 1. Mirae Asset Large Cap Fund</a:t>
            </a:r>
            <a:br>
              <a:rPr lang="en-IN" sz="1800" dirty="0"/>
            </a:br>
            <a:r>
              <a:rPr lang="en-IN" sz="1800" dirty="0"/>
              <a:t> 2. SBI </a:t>
            </a:r>
            <a:r>
              <a:rPr lang="en-IN" sz="1800" dirty="0" err="1"/>
              <a:t>Bluechip</a:t>
            </a:r>
            <a:r>
              <a:rPr lang="en-IN" sz="1800" dirty="0"/>
              <a:t> Fund</a:t>
            </a:r>
            <a:br>
              <a:rPr lang="en-IN" sz="1800" dirty="0"/>
            </a:br>
            <a:r>
              <a:rPr lang="en-IN" sz="1800" dirty="0"/>
              <a:t> 3. Nippon India Large Cap Fund</a:t>
            </a:r>
            <a:br>
              <a:rPr lang="en-IN" sz="1800" dirty="0"/>
            </a:br>
            <a:br>
              <a:rPr lang="en-IN" sz="1800" dirty="0"/>
            </a:br>
            <a:r>
              <a:rPr lang="en-IN" sz="1800" dirty="0"/>
              <a:t> &gt;</a:t>
            </a:r>
            <a:r>
              <a:rPr lang="en-IN" sz="1800" b="1" dirty="0"/>
              <a:t>High risk</a:t>
            </a:r>
            <a:br>
              <a:rPr lang="en-IN" sz="1800" dirty="0"/>
            </a:br>
            <a:r>
              <a:rPr lang="en-IN" sz="1800" dirty="0"/>
              <a:t> 1. Mirae Asset Tax Saver Fund</a:t>
            </a:r>
            <a:br>
              <a:rPr lang="en-IN" sz="1800" dirty="0"/>
            </a:br>
            <a:r>
              <a:rPr lang="en-IN" sz="1800" dirty="0"/>
              <a:t> 2. ICICI Pru Midcap Fund</a:t>
            </a:r>
            <a:br>
              <a:rPr lang="en-IN" sz="1800" dirty="0"/>
            </a:br>
            <a:r>
              <a:rPr lang="en-IN" sz="1800" dirty="0"/>
              <a:t> 3. DSP Midcap Fund</a:t>
            </a:r>
            <a:br>
              <a:rPr lang="en-IN" sz="1800" dirty="0"/>
            </a:br>
            <a:r>
              <a:rPr lang="en-IN" sz="1800" b="1" dirty="0"/>
              <a:t>Ranking method</a:t>
            </a:r>
            <a:br>
              <a:rPr lang="en-IN" sz="1800" b="1" dirty="0"/>
            </a:br>
            <a:r>
              <a:rPr lang="en-IN" sz="1800" dirty="0"/>
              <a:t>Sharpe Ratio within risk category.</a:t>
            </a:r>
            <a:br>
              <a:rPr lang="en-IN" sz="1800" dirty="0"/>
            </a:br>
            <a:br>
              <a:rPr lang="en-IN" sz="1800" dirty="0"/>
            </a:br>
            <a:r>
              <a:rPr lang="en-IN" sz="1800" b="1" dirty="0"/>
              <a:t>Presentation explanation:</a:t>
            </a:r>
            <a:r>
              <a:rPr lang="en-IN" sz="1800" dirty="0"/>
              <a:t> A simple rule-based recommendation engine was developed to help investors select funds according to their risk appetite. The engine ranks funds based on risk-adjusted performance.</a:t>
            </a:r>
            <a:br>
              <a:rPr lang="en-IN" sz="1800" dirty="0"/>
            </a:br>
            <a:endParaRPr lang="en-IN" sz="1800" dirty="0"/>
          </a:p>
        </p:txBody>
      </p:sp>
      <p:sp>
        <p:nvSpPr>
          <p:cNvPr id="3" name="Subtitle 2">
            <a:extLst>
              <a:ext uri="{FF2B5EF4-FFF2-40B4-BE49-F238E27FC236}">
                <a16:creationId xmlns:a16="http://schemas.microsoft.com/office/drawing/2014/main" id="{DCCCEE65-3DED-35FB-E3D3-57A5B601523B}"/>
              </a:ext>
            </a:extLst>
          </p:cNvPr>
          <p:cNvSpPr>
            <a:spLocks noGrp="1"/>
          </p:cNvSpPr>
          <p:nvPr>
            <p:ph type="subTitle" idx="1"/>
          </p:nvPr>
        </p:nvSpPr>
        <p:spPr>
          <a:xfrm>
            <a:off x="11905798" y="308113"/>
            <a:ext cx="361653" cy="99388"/>
          </a:xfrm>
        </p:spPr>
        <p:txBody>
          <a:bodyPr/>
          <a:lstStyle/>
          <a:p>
            <a:endParaRPr lang="en-IN"/>
          </a:p>
        </p:txBody>
      </p:sp>
      <p:sp>
        <p:nvSpPr>
          <p:cNvPr id="4" name="Arrow: Right 3">
            <a:extLst>
              <a:ext uri="{FF2B5EF4-FFF2-40B4-BE49-F238E27FC236}">
                <a16:creationId xmlns:a16="http://schemas.microsoft.com/office/drawing/2014/main" id="{C4C0496A-E186-2E5A-2080-D85CE16DA9E7}"/>
              </a:ext>
            </a:extLst>
          </p:cNvPr>
          <p:cNvSpPr/>
          <p:nvPr/>
        </p:nvSpPr>
        <p:spPr>
          <a:xfrm>
            <a:off x="501926" y="228599"/>
            <a:ext cx="298174" cy="26835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65100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427EB-C813-F276-895A-44376D1B580F}"/>
              </a:ext>
            </a:extLst>
          </p:cNvPr>
          <p:cNvSpPr>
            <a:spLocks noGrp="1"/>
          </p:cNvSpPr>
          <p:nvPr>
            <p:ph type="title"/>
          </p:nvPr>
        </p:nvSpPr>
        <p:spPr>
          <a:xfrm>
            <a:off x="646042" y="516835"/>
            <a:ext cx="11259755" cy="5824329"/>
          </a:xfrm>
        </p:spPr>
        <p:style>
          <a:lnRef idx="2">
            <a:schemeClr val="accent2"/>
          </a:lnRef>
          <a:fillRef idx="1">
            <a:schemeClr val="lt1"/>
          </a:fillRef>
          <a:effectRef idx="0">
            <a:schemeClr val="accent2"/>
          </a:effectRef>
          <a:fontRef idx="minor">
            <a:schemeClr val="dk1"/>
          </a:fontRef>
        </p:style>
        <p:txBody>
          <a:bodyPr/>
          <a:lstStyle/>
          <a:p>
            <a:r>
              <a:rPr lang="en-IN" sz="2000" b="1" dirty="0"/>
              <a:t>Key findings and recommendations</a:t>
            </a:r>
            <a:br>
              <a:rPr lang="en-IN" sz="2000" b="1" dirty="0"/>
            </a:br>
            <a:br>
              <a:rPr lang="en-IN" sz="2000" b="1" dirty="0"/>
            </a:br>
            <a:r>
              <a:rPr lang="en-IN" sz="1800" b="1" dirty="0"/>
              <a:t>Key findings:</a:t>
            </a:r>
            <a:br>
              <a:rPr lang="en-IN" sz="1600" b="1" dirty="0"/>
            </a:br>
            <a:br>
              <a:rPr lang="en-IN" sz="1600" b="1" dirty="0"/>
            </a:br>
            <a:r>
              <a:rPr lang="en-IN" sz="1600" b="1" dirty="0"/>
              <a:t> 1. </a:t>
            </a:r>
            <a:r>
              <a:rPr lang="en-IN" sz="1600" dirty="0"/>
              <a:t>Large-cap funds showed superior risk-adjusted performance.</a:t>
            </a:r>
            <a:br>
              <a:rPr lang="en-IN" sz="1600" dirty="0"/>
            </a:br>
            <a:r>
              <a:rPr lang="en-IN" sz="1600" dirty="0"/>
              <a:t> 2. Small-cap funds exhibited higher downside risk.</a:t>
            </a:r>
            <a:br>
              <a:rPr lang="en-IN" sz="1600" dirty="0"/>
            </a:br>
            <a:r>
              <a:rPr lang="en-IN" sz="1600" dirty="0"/>
              <a:t> 3. 2024 cohort invested the largest amount.</a:t>
            </a:r>
            <a:br>
              <a:rPr lang="en-IN" sz="1600" dirty="0"/>
            </a:br>
            <a:r>
              <a:rPr lang="en-IN" sz="1600" dirty="0"/>
              <a:t> 4. 1,332 investors were identified as At-Risk.</a:t>
            </a:r>
            <a:br>
              <a:rPr lang="en-IN" sz="1600" dirty="0"/>
            </a:br>
            <a:r>
              <a:rPr lang="en-IN" sz="1600" dirty="0"/>
              <a:t> 5. Portfolio concentration varied across equity funds.</a:t>
            </a:r>
            <a:br>
              <a:rPr lang="en-IN" sz="1600" dirty="0"/>
            </a:br>
            <a:br>
              <a:rPr lang="en-IN" sz="1600" dirty="0"/>
            </a:br>
            <a:r>
              <a:rPr lang="en-IN" sz="1800" b="1" dirty="0"/>
              <a:t>Recommendations:</a:t>
            </a:r>
            <a:br>
              <a:rPr lang="en-IN" sz="1600" b="1" dirty="0"/>
            </a:br>
            <a:br>
              <a:rPr lang="en-IN" sz="1600" b="1" dirty="0"/>
            </a:br>
            <a:r>
              <a:rPr lang="en-IN" sz="1600" b="1" dirty="0"/>
              <a:t> 1. </a:t>
            </a:r>
            <a:r>
              <a:rPr lang="en-IN" sz="1600" dirty="0"/>
              <a:t>Improve diversification.</a:t>
            </a:r>
            <a:br>
              <a:rPr lang="en-IN" sz="1600" dirty="0"/>
            </a:br>
            <a:r>
              <a:rPr lang="en-IN" sz="1600" dirty="0"/>
              <a:t> 2. Monitor concentration risk.</a:t>
            </a:r>
            <a:br>
              <a:rPr lang="en-IN" sz="1600" dirty="0"/>
            </a:br>
            <a:r>
              <a:rPr lang="en-IN" sz="1600" dirty="0"/>
              <a:t> 3. Strengthen SIP retention programs.</a:t>
            </a:r>
            <a:br>
              <a:rPr lang="en-IN" sz="1600" dirty="0"/>
            </a:br>
            <a:r>
              <a:rPr lang="en-IN" sz="1600" dirty="0"/>
              <a:t> 4. Expand B30 investor outreach.</a:t>
            </a:r>
            <a:br>
              <a:rPr lang="en-IN" sz="1600" dirty="0"/>
            </a:br>
            <a:r>
              <a:rPr lang="en-IN" sz="1600" dirty="0"/>
              <a:t> 5. Develop predictive analytics models.</a:t>
            </a:r>
            <a:br>
              <a:rPr lang="en-IN" sz="1600" dirty="0"/>
            </a:br>
            <a:br>
              <a:rPr lang="en-IN" sz="1600" dirty="0"/>
            </a:br>
            <a:r>
              <a:rPr lang="en-IN" sz="1600" b="1" dirty="0"/>
              <a:t>Presentation explanation:</a:t>
            </a:r>
            <a:r>
              <a:rPr lang="en-IN" sz="1600" dirty="0"/>
              <a:t> These findings can help fund houses improve investment products, customer retention, and portfolio risk management.</a:t>
            </a:r>
            <a:br>
              <a:rPr lang="en-IN" sz="1600" dirty="0"/>
            </a:br>
            <a:br>
              <a:rPr lang="en-IN" sz="1600" dirty="0"/>
            </a:br>
            <a:br>
              <a:rPr lang="en-IN" sz="1600" dirty="0"/>
            </a:br>
            <a:endParaRPr lang="en-IN" sz="1600" dirty="0"/>
          </a:p>
        </p:txBody>
      </p:sp>
      <p:sp>
        <p:nvSpPr>
          <p:cNvPr id="3" name="Subtitle 2">
            <a:extLst>
              <a:ext uri="{FF2B5EF4-FFF2-40B4-BE49-F238E27FC236}">
                <a16:creationId xmlns:a16="http://schemas.microsoft.com/office/drawing/2014/main" id="{117A3E5B-A367-A2F0-D227-E9EB79BBAAAA}"/>
              </a:ext>
            </a:extLst>
          </p:cNvPr>
          <p:cNvSpPr>
            <a:spLocks noGrp="1"/>
          </p:cNvSpPr>
          <p:nvPr>
            <p:ph type="subTitle" idx="1"/>
          </p:nvPr>
        </p:nvSpPr>
        <p:spPr>
          <a:xfrm>
            <a:off x="11990168" y="747576"/>
            <a:ext cx="46119" cy="771276"/>
          </a:xfrm>
        </p:spPr>
        <p:txBody>
          <a:bodyPr/>
          <a:lstStyle/>
          <a:p>
            <a:endParaRPr lang="en-IN" dirty="0"/>
          </a:p>
        </p:txBody>
      </p:sp>
      <p:sp>
        <p:nvSpPr>
          <p:cNvPr id="4" name="Arrow: Right 3">
            <a:extLst>
              <a:ext uri="{FF2B5EF4-FFF2-40B4-BE49-F238E27FC236}">
                <a16:creationId xmlns:a16="http://schemas.microsoft.com/office/drawing/2014/main" id="{112D0579-FE7E-B90F-ADD4-5AFE558AAC1E}"/>
              </a:ext>
            </a:extLst>
          </p:cNvPr>
          <p:cNvSpPr/>
          <p:nvPr/>
        </p:nvSpPr>
        <p:spPr>
          <a:xfrm>
            <a:off x="208722" y="573641"/>
            <a:ext cx="352949" cy="34786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49147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BBAAB-B07D-B804-21E2-E864A3EB9EC0}"/>
              </a:ext>
            </a:extLst>
          </p:cNvPr>
          <p:cNvSpPr>
            <a:spLocks noGrp="1"/>
          </p:cNvSpPr>
          <p:nvPr>
            <p:ph type="title"/>
          </p:nvPr>
        </p:nvSpPr>
        <p:spPr>
          <a:xfrm>
            <a:off x="745434" y="59632"/>
            <a:ext cx="11160363" cy="6818249"/>
          </a:xfrm>
        </p:spPr>
        <p:style>
          <a:lnRef idx="2">
            <a:schemeClr val="dk1"/>
          </a:lnRef>
          <a:fillRef idx="1">
            <a:schemeClr val="lt1"/>
          </a:fillRef>
          <a:effectRef idx="0">
            <a:schemeClr val="dk1"/>
          </a:effectRef>
          <a:fontRef idx="minor">
            <a:schemeClr val="dk1"/>
          </a:fontRef>
        </p:style>
        <p:txBody>
          <a:bodyPr/>
          <a:lstStyle/>
          <a:p>
            <a:r>
              <a:rPr lang="en-IN" sz="2400" b="1" dirty="0"/>
              <a:t>      Conclusion </a:t>
            </a:r>
            <a:br>
              <a:rPr lang="en-IN" sz="1800" b="1" dirty="0"/>
            </a:br>
            <a:br>
              <a:rPr lang="en-IN" sz="1800" b="1" dirty="0"/>
            </a:br>
            <a:r>
              <a:rPr lang="en-IN" sz="1800" b="1" dirty="0"/>
              <a:t> </a:t>
            </a:r>
            <a:r>
              <a:rPr lang="en-IN" sz="2000" b="1" dirty="0"/>
              <a:t>Project achievements :</a:t>
            </a:r>
            <a:br>
              <a:rPr lang="en-IN" sz="1800" b="1" dirty="0"/>
            </a:br>
            <a:br>
              <a:rPr lang="en-IN" sz="1800" b="1" dirty="0"/>
            </a:br>
            <a:r>
              <a:rPr lang="en-IN" sz="1800" b="1" dirty="0"/>
              <a:t>  1. </a:t>
            </a:r>
            <a:r>
              <a:rPr lang="en-IN" sz="1800" dirty="0"/>
              <a:t>ETL pipeline implementation.</a:t>
            </a:r>
            <a:br>
              <a:rPr lang="en-IN" sz="1800" dirty="0"/>
            </a:br>
            <a:r>
              <a:rPr lang="en-IN" sz="1800" dirty="0"/>
              <a:t>  2. SQLite database creation.</a:t>
            </a:r>
            <a:br>
              <a:rPr lang="en-IN" sz="1800" dirty="0"/>
            </a:br>
            <a:r>
              <a:rPr lang="en-IN" sz="1800" dirty="0"/>
              <a:t>  3. Comprehensive EDA.</a:t>
            </a:r>
            <a:br>
              <a:rPr lang="en-IN" sz="1800" dirty="0"/>
            </a:br>
            <a:r>
              <a:rPr lang="en-IN" sz="1800" dirty="0"/>
              <a:t>  4. Performance analytics.</a:t>
            </a:r>
            <a:br>
              <a:rPr lang="en-IN" sz="1800" dirty="0"/>
            </a:br>
            <a:r>
              <a:rPr lang="en-IN" sz="1800" dirty="0"/>
              <a:t>  5. </a:t>
            </a:r>
            <a:r>
              <a:rPr lang="en-IN" sz="1800" dirty="0" err="1"/>
              <a:t>VaR</a:t>
            </a:r>
            <a:r>
              <a:rPr lang="en-IN" sz="1800" dirty="0"/>
              <a:t> and CVaR analysis.</a:t>
            </a:r>
            <a:br>
              <a:rPr lang="en-IN" sz="1800" dirty="0"/>
            </a:br>
            <a:r>
              <a:rPr lang="en-IN" sz="1800" dirty="0"/>
              <a:t>  6. Rolling Sharpe analysis.</a:t>
            </a:r>
            <a:br>
              <a:rPr lang="en-IN" sz="1800" dirty="0"/>
            </a:br>
            <a:r>
              <a:rPr lang="en-IN" sz="1800" dirty="0"/>
              <a:t>  7. Investor cohort analysis.</a:t>
            </a:r>
            <a:br>
              <a:rPr lang="en-IN" sz="1800" dirty="0"/>
            </a:br>
            <a:r>
              <a:rPr lang="en-IN" sz="1800" dirty="0"/>
              <a:t>  8. SIP continuity analysis.</a:t>
            </a:r>
            <a:br>
              <a:rPr lang="en-IN" sz="1800" dirty="0"/>
            </a:br>
            <a:r>
              <a:rPr lang="en-IN" sz="1800" dirty="0"/>
              <a:t>  9. Fund recommendation engine.</a:t>
            </a:r>
            <a:br>
              <a:rPr lang="en-IN" sz="1800" dirty="0"/>
            </a:br>
            <a:r>
              <a:rPr lang="en-IN" sz="1800" dirty="0"/>
              <a:t> 10.HHI concentration analysis.</a:t>
            </a:r>
            <a:br>
              <a:rPr lang="en-IN" sz="1800" dirty="0"/>
            </a:br>
            <a:br>
              <a:rPr lang="en-IN" sz="1800" dirty="0"/>
            </a:br>
            <a:r>
              <a:rPr lang="en-IN" sz="1800" dirty="0"/>
              <a:t> </a:t>
            </a:r>
            <a:r>
              <a:rPr lang="en-IN" sz="2000" b="1" dirty="0"/>
              <a:t>Final conclusion :</a:t>
            </a:r>
            <a:br>
              <a:rPr lang="en-IN" sz="1800" b="1" dirty="0"/>
            </a:br>
            <a:br>
              <a:rPr lang="en-IN" sz="1800" b="1" dirty="0"/>
            </a:br>
            <a:r>
              <a:rPr lang="en-IN" sz="1800" dirty="0"/>
              <a:t>The project successfully developed a complete mutual fund analytics framework that integrates        data engineering, financial analytics, investor </a:t>
            </a:r>
            <a:r>
              <a:rPr lang="en-IN" sz="1800" dirty="0" err="1"/>
              <a:t>behavior</a:t>
            </a:r>
            <a:r>
              <a:rPr lang="en-IN" sz="1800" dirty="0"/>
              <a:t> analysis, and business reporting. The framework can support fund performance monitoring, risk assessment, and investment decision-making.</a:t>
            </a:r>
            <a:br>
              <a:rPr lang="en-IN" sz="1800" dirty="0"/>
            </a:br>
            <a:br>
              <a:rPr lang="en-IN" sz="1800" dirty="0"/>
            </a:br>
            <a:r>
              <a:rPr lang="en-IN" sz="1800" b="1" dirty="0"/>
              <a:t>Thank You.</a:t>
            </a:r>
            <a:br>
              <a:rPr lang="en-IN" sz="1800" dirty="0"/>
            </a:br>
            <a:endParaRPr lang="en-IN" sz="1800" dirty="0"/>
          </a:p>
        </p:txBody>
      </p:sp>
      <p:sp>
        <p:nvSpPr>
          <p:cNvPr id="3" name="Subtitle 2">
            <a:extLst>
              <a:ext uri="{FF2B5EF4-FFF2-40B4-BE49-F238E27FC236}">
                <a16:creationId xmlns:a16="http://schemas.microsoft.com/office/drawing/2014/main" id="{809D5C1C-5DCF-7522-FE50-CDAB02BF002B}"/>
              </a:ext>
            </a:extLst>
          </p:cNvPr>
          <p:cNvSpPr>
            <a:spLocks noGrp="1"/>
          </p:cNvSpPr>
          <p:nvPr>
            <p:ph type="subTitle" idx="1"/>
          </p:nvPr>
        </p:nvSpPr>
        <p:spPr>
          <a:xfrm flipH="1">
            <a:off x="11905798" y="1133214"/>
            <a:ext cx="145242" cy="59631"/>
          </a:xfrm>
        </p:spPr>
        <p:txBody>
          <a:bodyPr/>
          <a:lstStyle/>
          <a:p>
            <a:endParaRPr lang="en-IN"/>
          </a:p>
        </p:txBody>
      </p:sp>
      <p:sp>
        <p:nvSpPr>
          <p:cNvPr id="4" name="Arrow: Right 3">
            <a:extLst>
              <a:ext uri="{FF2B5EF4-FFF2-40B4-BE49-F238E27FC236}">
                <a16:creationId xmlns:a16="http://schemas.microsoft.com/office/drawing/2014/main" id="{4452FB35-C83C-60E7-9A75-F38B8ECA12E9}"/>
              </a:ext>
            </a:extLst>
          </p:cNvPr>
          <p:cNvSpPr/>
          <p:nvPr/>
        </p:nvSpPr>
        <p:spPr>
          <a:xfrm>
            <a:off x="824948" y="198783"/>
            <a:ext cx="387626" cy="31805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9714875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
  <TotalTime>91</TotalTime>
  <Words>1421</Words>
  <Application>Microsoft Office PowerPoint</Application>
  <PresentationFormat>Widescreen</PresentationFormat>
  <Paragraphs>35</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Century Gothic</vt:lpstr>
      <vt:lpstr>Wingdings 3</vt:lpstr>
      <vt:lpstr>Ion</vt:lpstr>
      <vt:lpstr>   Title : Mutual Fund Analytics Capstone Project                                                                                                                                  Final Presentation                                                        Prepared by: Bandi Bharath                                                 Bluestock Fintech Data Analytics Internship                                                                       August 2026   Presentation explanation: This project focuses on analyzing mutual fund performance, investor behavior, and portfolio risk using Python, SQL, and financial analytics. The project demonstrates an end-to-end analytics pipeline from raw data processing to business insights and investment                      recommendations. </vt:lpstr>
      <vt:lpstr>Problem statement and objective:  Problem statementblem statement :     1.  Mutual fund investors often compare schemes only based on returns.   2. Return-based analysis ignores volatility and downside risk.   3. Investors also need insights into portfolio concentration and SIP behavior.   4. Financial institutions require structured analytics for decision-making.   Objective :   1. Build an automated ETL pipeline.  2. Perform performance and risk analytics.  3. Analyze investor behavior.  4. Develop a fund recommendation engine.  5.Generate business recommendations.   Presentation explanation: The objective of this project was to create a complete mutual fund analytics framework that combines financial performance analysis with investor behavior analysis. The project aims to provide a practical solution for evaluating funds using both return and risk metrics.    </vt:lpstr>
      <vt:lpstr> </vt:lpstr>
      <vt:lpstr>Project architecture &amp; Analytics pipeline   Raw Data ↓ ETL Pipeline ↓ SQLite Database ↓ EDA &amp; Analytics ↓ Risk Metrics ↓ Dashboard &amp; Reports ↓ Business Insights    Technologies used :  1.Python 2.Pandas 3.NumPy 4.SQLite 5.Plotly 6.Jupyter 7.Git &amp; GitHub   Presentation explanation: The project follows a structured analytics pipeline. Raw datasets are cleaned and transformed before being stored in SQLite. Analytical modules then generate performance metrics, risk metrics, investor insights, and business reports   . </vt:lpstr>
      <vt:lpstr>PowerPoint Presentation</vt:lpstr>
      <vt:lpstr>Investor analytics :  Investor behavior findings  1. 25–40 age group was the most active segment. 2. 2024 cohort had the highest investment participation. 3 .UTI Nifty 50 Index Fund was the most preferred scheme. 4 .Younger investors showed stronger SIP participation.   Business impact  1. Better customer segmentation. 2. Improved product targeting. 3. Enhanced investor retention strategies.   Presentation explanation: Understanding investor behavior is important for fund houses because it helps identify high-value customer segments and improve marketing and retention strategies. </vt:lpstr>
      <vt:lpstr> Performance analytics    Metrics calculated :   1. CAGR   2. Sharpe Ratio   3. Sortino Ratio   4. Alpha   5. Beta   6. Maximum Drawdown   7. Tracking Error  Results Large-cap funds delivered stronger risk-adjusted returns. Mid-cap funds offered higher growth potential. Small-cap funds exhibited greater volatility.  Presentation explanation: Performance analytics focused on evaluating the quality of returns rather than absolute returns alone. Sharpe and Sortino ratios helped identify funds that generated better returns relative to risk.   </vt:lpstr>
      <vt:lpstr>Advanced risk analytics :  Risk metrics   1. Historical VaR (95%)  2. Conditional VaR (CVaR)  3. Rolling 90-day Sharpe Ratio  4. Sector HHI concentration  Major observations  1. Small-cap funds had the highest downside risk. 2. CVaR captured extreme loss scenarios. 3. Rolling Sharpe identified changing fund efficiency. 4. HHI highlighted concentration risk across sectors.  Presentation explanation: Advanced risk analytics provided a deeper understanding of portfolio risk. VaR estimated expected losses, while CVaR measured the severity of losses during adverse market conditions. </vt:lpstr>
      <vt:lpstr>SIP continuity analysis  Methodology:  1. Investors with 6+ SIP transactions analyzed. 2. Average gap between SIP dates calculated. 3. Gap &gt; 35 days classified as At-Risk.  Results:  1,332 At-Risk investors identified.  Business value:  1. Early investor retention. 2. Automated reminder systems. 3. Improved SIP continuation rates.  Presentation explanation: SIP continuity analysis is valuable because regular SIP investments are critical for long-term wealth creation. Identifying at-risk investors allows fund houses to take proactive retention measures.   </vt:lpstr>
      <vt:lpstr>Fund recommendation engine  Recommendation categories :   &gt; Low risk  1. ICICI Pru Liquid Fund  2. Kotak Liquid Fund  3. SBI Magnum Gilt Fund   &gt;Moderate risk  1. Mirae Asset Large Cap Fund  2. SBI Bluechip Fund  3. Nippon India Large Cap Fund   &gt;High risk  1. Mirae Asset Tax Saver Fund  2. ICICI Pru Midcap Fund  3. DSP Midcap Fund Ranking method Sharpe Ratio within risk category.  Presentation explanation: A simple rule-based recommendation engine was developed to help investors select funds according to their risk appetite. The engine ranks funds based on risk-adjusted performance. </vt:lpstr>
      <vt:lpstr>Key findings and recommendations  Key findings:   1. Large-cap funds showed superior risk-adjusted performance.  2. Small-cap funds exhibited higher downside risk.  3. 2024 cohort invested the largest amount.  4. 1,332 investors were identified as At-Risk.  5. Portfolio concentration varied across equity funds.  Recommendations:   1. Improve diversification.  2. Monitor concentration risk.  3. Strengthen SIP retention programs.  4. Expand B30 investor outreach.  5. Develop predictive analytics models.  Presentation explanation: These findings can help fund houses improve investment products, customer retention, and portfolio risk management.   </vt:lpstr>
      <vt:lpstr>      Conclusion    Project achievements :    1. ETL pipeline implementation.   2. SQLite database creation.   3. Comprehensive EDA.   4. Performance analytics.   5. VaR and CVaR analysis.   6. Rolling Sharpe analysis.   7. Investor cohort analysis.   8. SIP continuity analysis.   9. Fund recommendation engine.  10.HHI concentration analysis.   Final conclusion :  The project successfully developed a complete mutual fund analytics framework that integrates        data engineering, financial analytics, investor behavior analysis, and business reporting. The framework can support fund performance monitoring, risk assessment, and investment decision-making.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bandi bharath</dc:creator>
  <cp:lastModifiedBy>bandi bharath</cp:lastModifiedBy>
  <cp:revision>1</cp:revision>
  <dcterms:created xsi:type="dcterms:W3CDTF">2026-08-13T12:27:42Z</dcterms:created>
  <dcterms:modified xsi:type="dcterms:W3CDTF">2026-08-13T13:58:55Z</dcterms:modified>
</cp:coreProperties>
</file>